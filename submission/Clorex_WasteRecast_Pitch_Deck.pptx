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c0a0be51d84655" /><Relationship Type="http://schemas.openxmlformats.org/officeDocument/2006/relationships/extended-properties" Target="/docProps/app.xml" Id="R3ca4df88008143ca" /><Relationship Type="http://schemas.openxmlformats.org/officeDocument/2006/relationships/officeDocument" Target="/ppt/presentation.xml" Id="R3a8f3fc0a9164d0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4c4077138d145a8"/>
  </p:sldMasterIdLst>
  <p:notesMasterIdLst>
    <p:notesMasterId xmlns:r="http://schemas.openxmlformats.org/officeDocument/2006/relationships" r:id="Re61c2e09983d4d9e"/>
  </p:notesMasterIdLst>
  <p:sldIdLst>
    <p:sldId xmlns:r="http://schemas.openxmlformats.org/officeDocument/2006/relationships" id="256" r:id="R2168346705ea40c7"/>
    <p:sldId xmlns:r="http://schemas.openxmlformats.org/officeDocument/2006/relationships" id="257" r:id="Rf5d8214877634b16"/>
    <p:sldId xmlns:r="http://schemas.openxmlformats.org/officeDocument/2006/relationships" id="258" r:id="R11ec0c1fe3da496b"/>
    <p:sldId xmlns:r="http://schemas.openxmlformats.org/officeDocument/2006/relationships" id="259" r:id="Rc4dc6aef24ac4d8b"/>
    <p:sldId xmlns:r="http://schemas.openxmlformats.org/officeDocument/2006/relationships" id="260" r:id="Rf5ddd2089c8a4ec1"/>
    <p:sldId xmlns:r="http://schemas.openxmlformats.org/officeDocument/2006/relationships" id="261" r:id="R353cea2c293b4e23"/>
    <p:sldId xmlns:r="http://schemas.openxmlformats.org/officeDocument/2006/relationships" id="262" r:id="Rab9647c136d449bb"/>
    <p:sldId xmlns:r="http://schemas.openxmlformats.org/officeDocument/2006/relationships" id="263" r:id="R1650d3d1ae804455"/>
    <p:sldId xmlns:r="http://schemas.openxmlformats.org/officeDocument/2006/relationships" id="264" r:id="R8db2169b8eda4344"/>
    <p:sldId xmlns:r="http://schemas.openxmlformats.org/officeDocument/2006/relationships" id="265" r:id="Rf3212690214142ca"/>
    <p:sldId xmlns:r="http://schemas.openxmlformats.org/officeDocument/2006/relationships" id="266" r:id="Rc5fe2b1670894da7"/>
    <p:sldId xmlns:r="http://schemas.openxmlformats.org/officeDocument/2006/relationships" id="267" r:id="R9b0a902bbaac438e"/>
    <p:sldId xmlns:r="http://schemas.openxmlformats.org/officeDocument/2006/relationships" id="268" r:id="Rc63e83fa652d4fb0"/>
    <p:sldId xmlns:r="http://schemas.openxmlformats.org/officeDocument/2006/relationships" id="269" r:id="Ra5868ba8d29747c1"/>
    <p:sldId xmlns:r="http://schemas.openxmlformats.org/officeDocument/2006/relationships" id="270" r:id="R0191829b9823424b"/>
    <p:sldId xmlns:r="http://schemas.openxmlformats.org/officeDocument/2006/relationships" id="271" r:id="R3e4f57321c124f55"/>
  </p:sldIdLst>
  <p:sldSz cx="9144000" cy="5143500"/>
  <p:notesSz cx="6858000" cy="9144000"/>
  <p:embeddedFontLst>
    <p:embeddedFont>
      <p:font typeface="Google Sans Flex Medium"/>
      <p:regular xmlns:r="http://schemas.openxmlformats.org/officeDocument/2006/relationships" r:id="R9d88be5f73b849c5"/>
      <p:bold xmlns:r="http://schemas.openxmlformats.org/officeDocument/2006/relationships" r:id="Rf6dddf64c00b4304"/>
    </p:embeddedFont>
    <p:embeddedFont>
      <p:font typeface="Google Sans Flex"/>
      <p:regular xmlns:r="http://schemas.openxmlformats.org/officeDocument/2006/relationships" r:id="Rc93539f66143443c"/>
      <p:bold xmlns:r="http://schemas.openxmlformats.org/officeDocument/2006/relationships" r:id="R52a9dfd8ea94449d"/>
    </p:embeddedFont>
    <p:embeddedFont>
      <p:font typeface="Google Sans Flex SemiBold"/>
      <p:regular xmlns:r="http://schemas.openxmlformats.org/officeDocument/2006/relationships" r:id="R64ded50a298e45e4"/>
      <p:bold xmlns:r="http://schemas.openxmlformats.org/officeDocument/2006/relationships" r:id="Ref29ca0591024a38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6fdd16d3ff4d9c" /><Relationship Type="http://schemas.openxmlformats.org/officeDocument/2006/relationships/slideMaster" Target="/ppt/slideMasters/slideMaster1.xml" Id="R14c4077138d145a8" /><Relationship Type="http://schemas.openxmlformats.org/officeDocument/2006/relationships/notesMaster" Target="/ppt/notesMasters/notesMaster1.xml" Id="Re61c2e09983d4d9e" /><Relationship Type="http://schemas.openxmlformats.org/officeDocument/2006/relationships/presProps" Target="/ppt/presProps.xml" Id="R819056838c46453a" /><Relationship Type="http://schemas.openxmlformats.org/officeDocument/2006/relationships/viewProps" Target="/ppt/viewProps.xml" Id="Rcd238898a2e44a05" /><Relationship Type="http://schemas.openxmlformats.org/officeDocument/2006/relationships/tableStyles" Target="/ppt/tableStyles.xml" Id="R54c4b2e8735e4f7f" /><Relationship Type="http://schemas.openxmlformats.org/officeDocument/2006/relationships/font" Target="/ppt/fonts/font.dat" Id="R9d88be5f73b849c5" /><Relationship Type="http://schemas.openxmlformats.org/officeDocument/2006/relationships/font" Target="/ppt/fonts/font2.dat" Id="Rf6dddf64c00b4304" /><Relationship Type="http://schemas.openxmlformats.org/officeDocument/2006/relationships/font" Target="/ppt/fonts/font3.dat" Id="Rc93539f66143443c" /><Relationship Type="http://schemas.openxmlformats.org/officeDocument/2006/relationships/font" Target="/ppt/fonts/font4.dat" Id="R52a9dfd8ea94449d" /><Relationship Type="http://schemas.openxmlformats.org/officeDocument/2006/relationships/font" Target="/ppt/fonts/font5.dat" Id="R64ded50a298e45e4" /><Relationship Type="http://schemas.openxmlformats.org/officeDocument/2006/relationships/font" Target="/ppt/fonts/font6.dat" Id="Ref29ca0591024a38" /><Relationship Type="http://schemas.openxmlformats.org/officeDocument/2006/relationships/slide" Target="/ppt/slides/slide1.xml" Id="R2168346705ea40c7" /><Relationship Type="http://schemas.openxmlformats.org/officeDocument/2006/relationships/slide" Target="/ppt/slides/slide2.xml" Id="Rf5d8214877634b16" /><Relationship Type="http://schemas.openxmlformats.org/officeDocument/2006/relationships/slide" Target="/ppt/slides/slide3.xml" Id="R11ec0c1fe3da496b" /><Relationship Type="http://schemas.openxmlformats.org/officeDocument/2006/relationships/slide" Target="/ppt/slides/slide4.xml" Id="Rc4dc6aef24ac4d8b" /><Relationship Type="http://schemas.openxmlformats.org/officeDocument/2006/relationships/slide" Target="/ppt/slides/slide5.xml" Id="Rf5ddd2089c8a4ec1" /><Relationship Type="http://schemas.openxmlformats.org/officeDocument/2006/relationships/slide" Target="/ppt/slides/slide6.xml" Id="R353cea2c293b4e23" /><Relationship Type="http://schemas.openxmlformats.org/officeDocument/2006/relationships/slide" Target="/ppt/slides/slide7.xml" Id="Rab9647c136d449bb" /><Relationship Type="http://schemas.openxmlformats.org/officeDocument/2006/relationships/slide" Target="/ppt/slides/slide8.xml" Id="R1650d3d1ae804455" /><Relationship Type="http://schemas.openxmlformats.org/officeDocument/2006/relationships/slide" Target="/ppt/slides/slide9.xml" Id="R8db2169b8eda4344" /><Relationship Type="http://schemas.openxmlformats.org/officeDocument/2006/relationships/slide" Target="/ppt/slides/slide10.xml" Id="Rf3212690214142ca" /><Relationship Type="http://schemas.openxmlformats.org/officeDocument/2006/relationships/slide" Target="/ppt/slides/slide11.xml" Id="Rc5fe2b1670894da7" /><Relationship Type="http://schemas.openxmlformats.org/officeDocument/2006/relationships/slide" Target="/ppt/slides/slide12.xml" Id="R9b0a902bbaac438e" /><Relationship Type="http://schemas.openxmlformats.org/officeDocument/2006/relationships/slide" Target="/ppt/slides/slide13.xml" Id="Rc63e83fa652d4fb0" /><Relationship Type="http://schemas.openxmlformats.org/officeDocument/2006/relationships/slide" Target="/ppt/slides/slide14.xml" Id="Ra5868ba8d29747c1" /><Relationship Type="http://schemas.openxmlformats.org/officeDocument/2006/relationships/slide" Target="/ppt/slides/slide15.xml" Id="R0191829b9823424b" /><Relationship Type="http://schemas.openxmlformats.org/officeDocument/2006/relationships/slide" Target="/ppt/slides/slide16.xml" Id="R3e4f57321c124f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bce56248fa4a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826b0f9a574afa" /><Relationship Type="http://schemas.openxmlformats.org/officeDocument/2006/relationships/notesMaster" Target="/ppt/notesMasters/notesMaster1.xml" Id="R8c2f4dee161d45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6f5b26db834f52" /><Relationship Type="http://schemas.openxmlformats.org/officeDocument/2006/relationships/notesMaster" Target="/ppt/notesMasters/notesMaster1.xml" Id="Rcd7153943abe42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e2f86c105c42d8" /><Relationship Type="http://schemas.openxmlformats.org/officeDocument/2006/relationships/notesMaster" Target="/ppt/notesMasters/notesMaster1.xml" Id="R0c00a376aced4b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0d0d2d52244a75" /><Relationship Type="http://schemas.openxmlformats.org/officeDocument/2006/relationships/notesMaster" Target="/ppt/notesMasters/notesMaster1.xml" Id="R9c13a89239b64d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8d5550014347ac" /><Relationship Type="http://schemas.openxmlformats.org/officeDocument/2006/relationships/notesMaster" Target="/ppt/notesMasters/notesMaster1.xml" Id="R40e2f762ee5c4b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a87cebf8824ef5" /><Relationship Type="http://schemas.openxmlformats.org/officeDocument/2006/relationships/notesMaster" Target="/ppt/notesMasters/notesMaster1.xml" Id="Rcaffbc6dd8ac4c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9df8a6cb424c69" /><Relationship Type="http://schemas.openxmlformats.org/officeDocument/2006/relationships/notesMaster" Target="/ppt/notesMasters/notesMaster1.xml" Id="R2613c58821ad42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b7bbab69b040cb" /><Relationship Type="http://schemas.openxmlformats.org/officeDocument/2006/relationships/notesMaster" Target="/ppt/notesMasters/notesMaster1.xml" Id="Rfd4e308fd7894e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1a274e705f40b4" /><Relationship Type="http://schemas.openxmlformats.org/officeDocument/2006/relationships/notesMaster" Target="/ppt/notesMasters/notesMaster1.xml" Id="R6e4b24ef51c044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fa53e8433e416c" /><Relationship Type="http://schemas.openxmlformats.org/officeDocument/2006/relationships/notesMaster" Target="/ppt/notesMasters/notesMaster1.xml" Id="Rfa901b9bbdd747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72cfcb3cf34257" /><Relationship Type="http://schemas.openxmlformats.org/officeDocument/2006/relationships/notesMaster" Target="/ppt/notesMasters/notesMaster1.xml" Id="Re2bdef10ca1346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29d873b4704353" /><Relationship Type="http://schemas.openxmlformats.org/officeDocument/2006/relationships/notesMaster" Target="/ppt/notesMasters/notesMaster1.xml" Id="R49a4779803474e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568af586f748a5" /><Relationship Type="http://schemas.openxmlformats.org/officeDocument/2006/relationships/notesMaster" Target="/ppt/notesMasters/notesMaster1.xml" Id="R395037dcaca84f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5783a1d5864971" /><Relationship Type="http://schemas.openxmlformats.org/officeDocument/2006/relationships/notesMaster" Target="/ppt/notesMasters/notesMaster1.xml" Id="R816ddedd08ca43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180189fd234354" /><Relationship Type="http://schemas.openxmlformats.org/officeDocument/2006/relationships/notesMaster" Target="/ppt/notesMasters/notesMaster1.xml" Id="R232eaea73659475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4711d2ff274a0f" /><Relationship Type="http://schemas.openxmlformats.org/officeDocument/2006/relationships/notesMaster" Target="/ppt/notesMasters/notesMaster1.xml" Id="R41272860c40d45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https://aibuildercup.com/ ; https://aibuildercup.com/themes.html ; https://github.com/anshuman542018/wasterecast (commit 00ad41d). Live prototype: https://wasterecast.web.app/ . Test date: 18 October 2026. Team and eligibility supplied by participants. Claims describe a prototype, not independently certified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https://aibuildercup.com/ ; https://aibuildercup.com/themes.html ; https://github.com/anshuman542018/wasterecast (commit 00ad41d). Live prototype: https://wasterecast.web.app/ . Test date: 18 October 2026. Team and eligibility supplied by participants. Claims describe a prototype, not independently certified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https://aibuildercup.com/ ; https://aibuildercup.com/themes.html ; https://github.com/anshuman542018/wasterecast (commit 00ad41d). Live prototype: https://wasterecast.web.app/ . Test date: 18 October 2026. Team and eligibility supplied by participants. Claims describe a prototype, not independently certified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https://aibuildercup.com/ ; https://aibuildercup.com/themes.html ; https://github.com/anshuman542018/wasterecast (commit 00ad41d). Live prototype: https://wasterecast.web.app/ . Test date: 18 October 2026. Team and eligibility supplied by participants. Claims describe a prototype, not independently certified performance.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Public catalog sources: https://mpcb.gov.in/sites/default/files/whats_new/2025-11/MPCB%20Circular%20Economy%20Directory%202025%20R3_compressed.pdf ; https://tnpcb.gov.in/PDF/Waste_Mngt/HazardousWaste/SolventRecoveryIndustries.pdf ; https://www.wbpcb.gov.in/files/Fr-02-2025-02-39-23haz_inventory_2023_24.pdf . Retrieval date: 12 October 2026. 771 + 12 + 129 = 912 catalog records; this is a record count, not independently verified unique active buyers.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https://aibuildercup.com/ ; https://aibuildercup.com/themes.html ; https://github.com/anshuman542018/wasterecast (commit 00ad41d). Live prototype: https://wasterecast.web.app/ . Test date: 18 October 2026. Team and eligibility supplied by participants. Claims describe a prototype, not independently certified performance.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Public catalog sources: https://mpcb.gov.in/sites/default/files/whats_new/2025-11/MPCB%20Circular%20Economy%20Directory%202025%20R3_compressed.pdf ; https://tnpcb.gov.in/PDF/Waste_Mngt/HazardousWaste/SolventRecoveryIndustries.pdf ; https://www.wbpcb.gov.in/files/Fr-02-2025-02-39-23haz_inventory_2023_24.pdf . Retrieval date: 12 October 2026. 771 + 12 + 129 = 912 catalog records; this is a record count, not independently verified unique active buyers.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https://aibuildercup.com/ ; https://aibuildercup.com/themes.html ; https://github.com/anshuman542018/wasterecast (commit 00ad41d). Live prototype: https://wasterecast.web.app/ . Test date: 18 October 2026. Team and eligibility supplied by participants. Claims describe a prototype, not independently certified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https://aibuildercup.com/ ; https://aibuildercup.com/themes.html ; https://github.com/anshuman542018/wasterecast (commit 00ad41d). Live prototype: https://wasterecast.web.app/ . Test date: 18 October 2026. Team and eligibility supplied by participants. Claims describe a prototype, not independently certified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https://aibuildercup.com/ ; https://aibuildercup.com/themes.html ; https://github.com/anshuman542018/wasterecast (commit 00ad41d). Live prototype: https://wasterecast.web.app/ . Test date: 18 October 2026. Team and eligibility supplied by participants. Claims describe a prototype, not independently certified performance.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Public catalog sources: https://mpcb.gov.in/sites/default/files/whats_new/2025-11/MPCB%20Circular%20Economy%20Directory%202025%20R3_compressed.pdf ; https://tnpcb.gov.in/PDF/Waste_Mngt/HazardousWaste/SolventRecoveryIndustries.pdf ; https://www.wbpcb.gov.in/files/Fr-02-2025-02-39-23haz_inventory_2023_24.pdf . Retrieval date: 12 October 2026. 771 + 12 + 129 = 912 catalog records; this is a record count, not independently verified unique active buyers.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https://aibuildercup.com/ ; https://aibuildercup.com/themes.html ; https://github.com/anshuman542018/wasterecast (commit 00ad41d). Live prototype: https://wasterecast.web.app/ . Test date: 18 October 2026. Team and eligibility supplied by participants. Claims describe a prototype, not independently certified performance.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Public catalog sources: https://mpcb.gov.in/sites/default/files/whats_new/2025-11/MPCB%20Circular%20Economy%20Directory%202025%20R3_compressed.pdf ; https://tnpcb.gov.in/PDF/Waste_Mngt/HazardousWaste/SolventRecoveryIndustries.pdf ; https://www.wbpcb.gov.in/files/Fr-02-2025-02-39-23haz_inventory_2023_24.pdf . Retrieval date: 12 October 2026. 771 + 12 + 129 = 912 catalog records; this is a record count, not independently verified unique active buyers.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https://aibuildercup.com/ ; https://aibuildercup.com/themes.html ; https://github.com/anshuman542018/wasterecast (commit 00ad41d). Live prototype: https://wasterecast.web.app/ . Test date: 18 October 2026. Team and eligibility supplied by participants. Claims describe a prototype, not independently certified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https://aibuildercup.com/ ; https://aibuildercup.com/themes.html ; https://github.com/anshuman542018/wasterecast (commit 00ad41d). Live prototype: https://wasterecast.web.app/ . Test date: 18 October 2026. Team and eligibility supplied by participants. Claims describe a prototype, not independently certified performance.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Public catalog sources: https://mpcb.gov.in/sites/default/files/whats_new/2025-11/MPCB%20Circular%20Economy%20Directory%202025%20R3_compressed.pdf ; https://tnpcb.gov.in/PDF/Waste_Mngt/HazardousWaste/SolventRecoveryIndustries.pdf ; https://www.wbpcb.gov.in/files/Fr-02-2025-02-39-23haz_inventory_2023_24.pdf . Retrieval date: 12 October 2026. 771 + 12 + 129 = 912 catalog records; this is a record count, not independently verified unique active buyers.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https://aibuildercup.com/ ; https://aibuildercup.com/themes.html ; https://github.com/anshuman542018/wasterecast (commit 00ad41d). Live prototype: https://wasterecast.web.app/ . Test date: 18 October 2026. Team and eligibility supplied by participants. Claims describe a prototype, not independently certified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https://aibuildercup.com/ ; https://aibuildercup.com/themes.html ; https://github.com/anshuman542018/wasterecast (commit 00ad41d). Live prototype: https://wasterecast.web.app/ . Test date: 18 October 2026. Team and eligibility supplied by participants. Claims describe a prototype, not independently certified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https://aibuildercup.com/ ; https://aibuildercup.com/themes.html ; https://github.com/anshuman542018/wasterecast (commit 00ad41d). Live prototype: https://wasterecast.web.app/ . Test date: 18 October 2026. Team and eligibility supplied by participants. Claims describe a prototype, not independently certified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https://aibuildercup.com/ ; https://aibuildercup.com/themes.html ; https://github.com/anshuman542018/wasterecast (commit 00ad41d). Live prototype: https://wasterecast.web.app/ . Test date: 18 October 2026. Team and eligibility supplied by participants. Claims describe a prototype, not independently certified performance.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Public catalog sources: https://mpcb.gov.in/sites/default/files/whats_new/2025-11/MPCB%20Circular%20Economy%20Directory%202025%20R3_compressed.pdf ; https://tnpcb.gov.in/PDF/Waste_Mngt/HazardousWaste/SolventRecoveryIndustries.pdf ; https://www.wbpcb.gov.in/files/Fr-02-2025-02-39-23haz_inventory_2023_24.pdf . Retrieval date: 12 October 2026. 771 + 12 + 129 = 912 catalog records; this is a record count, not independently verified unique active buyers.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https://aibuildercup.com/ ; https://aibuildercup.com/themes.html ; https://github.com/anshuman542018/wasterecast (commit 00ad41d). Live prototype: https://wasterecast.web.app/ . Test date: 18 October 2026. Team and eligibility supplied by participants. Claims describe a prototype, not independently certified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315c20773e46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643ff9edbc40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951d91fe046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f0560f56b45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5f9d32f6f42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b0cfc28814cc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473340a9cb4c5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5e5489ca04e8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b965c1ecf2430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46f079e20440f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627a589bf4732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D89157EB-C9F2-4D9F-9590-33373D7AB0C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48534C00-3CA3-47C8-8BC9-B27F2FFFB5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A3461E5B-E00A-4A0F-902C-310FBF7CF1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DA8D5921-B8AE-47A6-804C-CDCF0451A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557AB7A5-720F-4CF9-AAAA-E2B47833FA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6C4B02F7-11E3-45CB-822A-6ECF02B310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E2761933-3541-423B-80B2-1870A9DD24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6D032544-F3ED-4958-94C4-B910F2E146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77287FD-F41E-4A91-AF38-95309C4CE1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64F36FF5-0A83-456F-B76A-BCD9A6F71C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7514AF84-606D-44B8-9F11-B95C0C8BBF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1384970C-6A71-4232-A7FE-B62FFBCD13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B7FB5794-0D4E-47C8-922E-B3E1635C47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DD605B8B-D9BF-40BB-9557-C9753B7FD5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B005853F-FC27-40C8-B2BD-B69705AA05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79B6DACD-E410-4113-92D6-B03BFAD297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53499764-8C7E-441E-88C9-98041E2488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88C2FE8F-BD02-42E2-9338-46AFCA8EAA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04FBF2FC-A35E-477E-8A4B-C1D60074DA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7BE2E93C-370C-4AF9-A29D-1025C436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72DD6735-E041-484F-A96E-973FABC0B2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47C12201-6B50-45A0-B12A-F17CFDCFCB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8234009F-143B-4FBC-B092-53E72D5523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470FEAAC-4302-4DB9-902C-E7A5F20EA7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502DF433-EE77-49BD-9743-7E3015E907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E3BA45EC-4639-40EE-BCBD-7AB59EBB75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06B2CF5B-CD6A-4907-BF88-C0BC9853540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6D6AA754-7875-4FE8-8D7C-955D4026C7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C55FCD4F-75EA-4A52-AC11-AE901E60FE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19882645-0700-4F3E-BF0D-A5FEC8B699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2bff1fc6414df3" /><Relationship Type="http://schemas.openxmlformats.org/officeDocument/2006/relationships/slideLayout" Target="/ppt/slideLayouts/slideLayout1.xml" Id="Rf056c70a021348ce" /><Relationship Type="http://schemas.openxmlformats.org/officeDocument/2006/relationships/slideLayout" Target="/ppt/slideLayouts/slideLayout2.xml" Id="Rae9f7feae5a842e0" /><Relationship Type="http://schemas.openxmlformats.org/officeDocument/2006/relationships/slideLayout" Target="/ppt/slideLayouts/slideLayout3.xml" Id="R1ff97a981b414520" /><Relationship Type="http://schemas.openxmlformats.org/officeDocument/2006/relationships/slideLayout" Target="/ppt/slideLayouts/slideLayout4.xml" Id="R4006e34872a74717" /><Relationship Type="http://schemas.openxmlformats.org/officeDocument/2006/relationships/slideLayout" Target="/ppt/slideLayouts/slideLayout5.xml" Id="R84622890aa244f5c" /><Relationship Type="http://schemas.openxmlformats.org/officeDocument/2006/relationships/slideLayout" Target="/ppt/slideLayouts/slideLayout6.xml" Id="R65c06a3f7e8f4e95" /><Relationship Type="http://schemas.openxmlformats.org/officeDocument/2006/relationships/slideLayout" Target="/ppt/slideLayouts/slideLayout7.xml" Id="Racbcbae1ab174c8d" /><Relationship Type="http://schemas.openxmlformats.org/officeDocument/2006/relationships/slideLayout" Target="/ppt/slideLayouts/slideLayout8.xml" Id="R350bb9ac0a3f4fa8" /><Relationship Type="http://schemas.openxmlformats.org/officeDocument/2006/relationships/slideLayout" Target="/ppt/slideLayouts/slideLayout9.xml" Id="R6a49f2e44db14f58" /><Relationship Type="http://schemas.openxmlformats.org/officeDocument/2006/relationships/slideLayout" Target="/ppt/slideLayouts/slideLayout10.xml" Id="Rb38d3e20c1594f31" /><Relationship Type="http://schemas.openxmlformats.org/officeDocument/2006/relationships/slideLayout" Target="/ppt/slideLayouts/slideLayout11.xml" Id="R75573ba62cbb4b79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2F7D403B-E863-4FE6-908E-834BDBF8EA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ACE7C0C8-4039-4A16-9069-EBF8DA2DEF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5E1C7269-C818-433B-B414-09A523000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56c70a021348ce"/>
    <p:sldLayoutId xmlns:r="http://schemas.openxmlformats.org/officeDocument/2006/relationships" id="2147483650" r:id="Rae9f7feae5a842e0"/>
    <p:sldLayoutId xmlns:r="http://schemas.openxmlformats.org/officeDocument/2006/relationships" id="2147483651" r:id="R1ff97a981b414520"/>
    <p:sldLayoutId xmlns:r="http://schemas.openxmlformats.org/officeDocument/2006/relationships" id="2147483652" r:id="R4006e34872a74717"/>
    <p:sldLayoutId xmlns:r="http://schemas.openxmlformats.org/officeDocument/2006/relationships" id="2147483653" r:id="R84622890aa244f5c"/>
    <p:sldLayoutId xmlns:r="http://schemas.openxmlformats.org/officeDocument/2006/relationships" id="2147483654" r:id="R65c06a3f7e8f4e95"/>
    <p:sldLayoutId xmlns:r="http://schemas.openxmlformats.org/officeDocument/2006/relationships" id="2147483655" r:id="Racbcbae1ab174c8d"/>
    <p:sldLayoutId xmlns:r="http://schemas.openxmlformats.org/officeDocument/2006/relationships" id="2147483656" r:id="R350bb9ac0a3f4fa8"/>
    <p:sldLayoutId xmlns:r="http://schemas.openxmlformats.org/officeDocument/2006/relationships" id="2147483657" r:id="R6a49f2e44db14f58"/>
    <p:sldLayoutId xmlns:r="http://schemas.openxmlformats.org/officeDocument/2006/relationships" id="2147483658" r:id="Rb38d3e20c1594f31"/>
    <p:sldLayoutId xmlns:r="http://schemas.openxmlformats.org/officeDocument/2006/relationships" id="2147483659" r:id="R75573ba62cbb4b7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0b38950ba4e37" /><Relationship Type="http://schemas.openxmlformats.org/officeDocument/2006/relationships/image" Target="/ppt/media/image.png" Id="Rbad165dd64d54a2b" /><Relationship Type="http://schemas.openxmlformats.org/officeDocument/2006/relationships/image" Target="/ppt/media/image2.png" Id="Rb9f76075d3294721" /><Relationship Type="http://schemas.openxmlformats.org/officeDocument/2006/relationships/notesSlide" Target="/ppt/notesSlides/notesSlide1.xml" Id="R1513658c188a40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e375a10674784" /><Relationship Type="http://schemas.openxmlformats.org/officeDocument/2006/relationships/image" Target="/ppt/media/image2.png" Id="Rd2eeab1c63c341b3" /><Relationship Type="http://schemas.openxmlformats.org/officeDocument/2006/relationships/image" Target="/ppt/media/image.jpeg" Id="R7b84117c5ac74ef2" /><Relationship Type="http://schemas.openxmlformats.org/officeDocument/2006/relationships/notesSlide" Target="/ppt/notesSlides/notesSlide2.xml" Id="R40df392debd040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ca798faf24366" /><Relationship Type="http://schemas.openxmlformats.org/officeDocument/2006/relationships/image" Target="/ppt/media/image3.png" Id="R45bceddef51746e5" /><Relationship Type="http://schemas.openxmlformats.org/officeDocument/2006/relationships/notesSlide" Target="/ppt/notesSlides/notesSlide3.xml" Id="R93e35de767cd47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3d0051147407e" /><Relationship Type="http://schemas.openxmlformats.org/officeDocument/2006/relationships/image" Target="/ppt/media/image2.png" Id="Rd7edbcc50c874539" /><Relationship Type="http://schemas.openxmlformats.org/officeDocument/2006/relationships/image" Target="/ppt/media/image3.png" Id="Rc505671251e94744" /><Relationship Type="http://schemas.openxmlformats.org/officeDocument/2006/relationships/notesSlide" Target="/ppt/notesSlides/notesSlide4.xml" Id="R918a1b5754034b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fec8826ab451f" /><Relationship Type="http://schemas.openxmlformats.org/officeDocument/2006/relationships/image" Target="/ppt/media/image2.png" Id="Rc7d10f9165f64c42" /><Relationship Type="http://schemas.openxmlformats.org/officeDocument/2006/relationships/image" Target="/ppt/media/image3.png" Id="R5baec42710d747eb" /><Relationship Type="http://schemas.openxmlformats.org/officeDocument/2006/relationships/notesSlide" Target="/ppt/notesSlides/notesSlide5.xml" Id="Rdf7b99c68bfe42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51408e7aa45fc" /><Relationship Type="http://schemas.openxmlformats.org/officeDocument/2006/relationships/image" Target="/ppt/media/image2.png" Id="R058ced9e53a04bae" /><Relationship Type="http://schemas.openxmlformats.org/officeDocument/2006/relationships/image" Target="/ppt/media/image3.png" Id="Rdebcef3ac1204879" /><Relationship Type="http://schemas.openxmlformats.org/officeDocument/2006/relationships/notesSlide" Target="/ppt/notesSlides/notesSlide6.xml" Id="R74e20d1c45ae42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d4b9b2e2e46b6" /><Relationship Type="http://schemas.openxmlformats.org/officeDocument/2006/relationships/image" Target="/ppt/media/image2.png" Id="R747c422edc234b7b" /><Relationship Type="http://schemas.openxmlformats.org/officeDocument/2006/relationships/image" Target="/ppt/media/image3.png" Id="R2ac69c359b8c4a7a" /><Relationship Type="http://schemas.openxmlformats.org/officeDocument/2006/relationships/image" Target="/ppt/media/image2.jpeg" Id="Rb7b79ce4498d455b" /><Relationship Type="http://schemas.openxmlformats.org/officeDocument/2006/relationships/notesSlide" Target="/ppt/notesSlides/notesSlide7.xml" Id="R51c911f3ca5e4f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d35787c084d69" /><Relationship Type="http://schemas.openxmlformats.org/officeDocument/2006/relationships/image" Target="/ppt/media/image2.png" Id="R034e3898ab284e6e" /><Relationship Type="http://schemas.openxmlformats.org/officeDocument/2006/relationships/image" Target="/ppt/media/image3.png" Id="R7a7e4ffa6adb4d3e" /><Relationship Type="http://schemas.openxmlformats.org/officeDocument/2006/relationships/notesSlide" Target="/ppt/notesSlides/notesSlide8.xml" Id="Rc0882299c23942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8abe3af54499e" /><Relationship Type="http://schemas.openxmlformats.org/officeDocument/2006/relationships/image" Target="/ppt/media/image2.png" Id="R961a3047b1974a22" /><Relationship Type="http://schemas.openxmlformats.org/officeDocument/2006/relationships/image" Target="/ppt/media/image3.png" Id="R814db5f9626c4172" /><Relationship Type="http://schemas.openxmlformats.org/officeDocument/2006/relationships/notesSlide" Target="/ppt/notesSlides/notesSlide9.xml" Id="R7ee87e003b844a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2b29591444bdc" /><Relationship Type="http://schemas.openxmlformats.org/officeDocument/2006/relationships/image" Target="/ppt/media/image2.png" Id="R2bd52fd7e55140a8" /><Relationship Type="http://schemas.openxmlformats.org/officeDocument/2006/relationships/image" Target="/ppt/media/image3.png" Id="R072e8d97eb984aac" /><Relationship Type="http://schemas.openxmlformats.org/officeDocument/2006/relationships/notesSlide" Target="/ppt/notesSlides/notesSlide10.xml" Id="R34c25cb1dfe04b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1db6361c845ba" /><Relationship Type="http://schemas.openxmlformats.org/officeDocument/2006/relationships/image" Target="/ppt/media/image2.png" Id="Re85589967e194c0d" /><Relationship Type="http://schemas.openxmlformats.org/officeDocument/2006/relationships/image" Target="/ppt/media/image3.png" Id="Ra82d1213f8ad4b77" /><Relationship Type="http://schemas.openxmlformats.org/officeDocument/2006/relationships/image" Target="/ppt/media/image3.jpeg" Id="R9d1b5494fe3e44e4" /><Relationship Type="http://schemas.openxmlformats.org/officeDocument/2006/relationships/notesSlide" Target="/ppt/notesSlides/notesSlide11.xml" Id="Rcf0d5d9c6a3046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daed4ad0a4a92" /><Relationship Type="http://schemas.openxmlformats.org/officeDocument/2006/relationships/image" Target="/ppt/media/image2.png" Id="R9d04adf7d5f348d7" /><Relationship Type="http://schemas.openxmlformats.org/officeDocument/2006/relationships/image" Target="/ppt/media/image3.png" Id="R8004706bebb14905" /><Relationship Type="http://schemas.openxmlformats.org/officeDocument/2006/relationships/notesSlide" Target="/ppt/notesSlides/notesSlide12.xml" Id="R6c0c4090b68d4d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6fc13020a4ff8" /><Relationship Type="http://schemas.openxmlformats.org/officeDocument/2006/relationships/image" Target="/ppt/media/image2.png" Id="R4ea448a147fc42c4" /><Relationship Type="http://schemas.openxmlformats.org/officeDocument/2006/relationships/image" Target="/ppt/media/image3.png" Id="R2c670353f09d4fc2" /><Relationship Type="http://schemas.openxmlformats.org/officeDocument/2006/relationships/notesSlide" Target="/ppt/notesSlides/notesSlide13.xml" Id="R572f6959216b4c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b7e4e6fee4291" /><Relationship Type="http://schemas.openxmlformats.org/officeDocument/2006/relationships/image" Target="/ppt/media/image2.png" Id="R0abeede17a8440e4" /><Relationship Type="http://schemas.openxmlformats.org/officeDocument/2006/relationships/image" Target="/ppt/media/image3.png" Id="R840c6e26767e43c0" /><Relationship Type="http://schemas.openxmlformats.org/officeDocument/2006/relationships/hyperlink" Target="https://wasterecast.web.app/" TargetMode="External" Id="Rae9815693b5a452c" /><Relationship Type="http://schemas.openxmlformats.org/officeDocument/2006/relationships/hyperlink" Target="https://github.com/anshuman542018/wasterecast" TargetMode="External" Id="Rab5fbbd0bfea4b2b" /><Relationship Type="http://schemas.openxmlformats.org/officeDocument/2006/relationships/hyperlink" Target="https://drive.google.com/file/d/1e1EyM-4qKs6WXAbR9nq35Z9UsCGghN5u/view" TargetMode="External" Id="Raa74300038e54f36" /><Relationship Type="http://schemas.openxmlformats.org/officeDocument/2006/relationships/notesSlide" Target="/ppt/notesSlides/notesSlide14.xml" Id="Ree026aed9e0e44a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abce0a8de40d4" /><Relationship Type="http://schemas.openxmlformats.org/officeDocument/2006/relationships/image" Target="/ppt/media/image2.png" Id="Rdcb8b3460da442df" /><Relationship Type="http://schemas.openxmlformats.org/officeDocument/2006/relationships/image" Target="/ppt/media/image3.png" Id="R6cf187330cd040ff" /><Relationship Type="http://schemas.openxmlformats.org/officeDocument/2006/relationships/notesSlide" Target="/ppt/notesSlides/notesSlide15.xml" Id="Rc6b1e8858a1544a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e3405fb1545cf" /><Relationship Type="http://schemas.openxmlformats.org/officeDocument/2006/relationships/image" Target="/ppt/media/image2.png" Id="Rcad18a2d48f54ce1" /><Relationship Type="http://schemas.openxmlformats.org/officeDocument/2006/relationships/image" Target="/ppt/media/image4.png" Id="R4ee0e46fa4504165" /><Relationship Type="http://schemas.openxmlformats.org/officeDocument/2006/relationships/notesSlide" Target="/ppt/notesSlides/notesSlide16.xml" Id="R5cc282d858a5424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3E026836-1491-4243-A641-8C4FA236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00" y="2902694"/>
            <a:ext cx="8760000" cy="200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defRPr sz="1725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  <a:buNone/>
            </a:pPr>
            <a:r>
              <a:rPr sz="1725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defRPr sz="1725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  <a:buNone/>
            </a:pPr>
            <a:r>
              <a:rPr sz="1725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rPr>
              <a:t>Team name: Clorex  |  Product: WasteRecast</a:t>
            </a:r>
            <a:endParaRPr sz="1800"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0" lvl="1" indent="0" algn="l">
              <a:spcBef>
                <a:spcPts val="0"/>
              </a:spcBef>
              <a:spcAft>
                <a:spcPts val="0"/>
              </a:spcAft>
              <a:defRPr sz="1725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  <a:buNone/>
            </a:pPr>
            <a:r>
              <a:rPr sz="1725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rPr>
              <a:t>Team leader: Zuhaib Ahmed</a:t>
            </a:r>
            <a:endParaRPr sz="1800"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1" indent="0" algn="l">
              <a:spcBef>
                <a:spcPts val="0"/>
              </a:spcBef>
              <a:spcAft>
                <a:spcPts val="0"/>
              </a:spcAft>
              <a:defRPr sz="1725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  <a:buNone/>
            </a:pPr>
            <a:r>
              <a:rPr sz="1725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rPr>
              <a:t>Members: Anshuman Pandey · Aliyan Ahmed</a:t>
            </a:r>
            <a:endParaRPr sz="1800"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1" indent="0" algn="l">
              <a:spcBef>
                <a:spcPts val="0"/>
              </a:spcBef>
              <a:spcAft>
                <a:spcPts val="0"/>
              </a:spcAft>
              <a:defRPr sz="1725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  <a:buNone/>
            </a:pPr>
            <a:r>
              <a:rPr sz="1725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rPr>
              <a:t>Problem statement: Sustainability &amp; Social Impact</a:t>
            </a:r>
            <a:endParaRPr sz="1800"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defRPr sz="1725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  <a:buNone/>
            </a:pPr>
            <a:r>
              <a:rPr sz="1725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rPr>
              <a:t>Evidence-based material reuse and global matching</a:t>
            </a:r>
            <a:endParaRPr sz="18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D86A2939-E761-4D3A-9DCC-19E143B225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165dd64d54a2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095AD501-AF38-485F-B490-E1DA7028D4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9f76075d329472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5154718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1F8FF287-3EAD-4C51-8043-D37D5F6462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eeab1c63c341b3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" name="Google Shape;62;p14">
            <a:extLst xmlns:a="http://schemas.openxmlformats.org/drawingml/2006/main">
              <a:ext uri="{FF2B5EF4-FFF2-40B4-BE49-F238E27FC236}">
                <a16:creationId xmlns:a16="http://schemas.microsoft.com/office/drawing/2014/main" id="{CCB066AD-8FDE-4B76-9028-23F4E6A6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DC1F8FDE-3EAF-485E-9D31-7DB5775D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76375"/>
            <a:ext cx="3524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025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2025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WasteRecast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025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2025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Find a counterpart. Check acceptance conditions. Work through what needs to change.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025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2025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Built by Clorex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  <p:pic>
        <p:nvPic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78B81CDC-3BC2-4AFB-88E6-D36C14B165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4117c5ac74ef2">
            <a:alphaModFix/>
          </a:blip>
          <a:stretch xmlns:a="http://schemas.openxmlformats.org/drawingml/2006/main"/>
        </p:blipFill>
        <p:spPr>
          <a:xfrm xmlns:a="http://schemas.openxmlformats.org/drawingml/2006/main">
            <a:off x="333375" y="1288077"/>
            <a:ext cx="4476750" cy="25197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62849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F96418CA-514B-4A83-8E01-C8FFB86593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ceddef51746e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70631EA3-756C-4C43-8B9D-38852153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D042EDF1-921D-4B72-B59D-BD818973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6A9E167-2B42-4888-A82D-DCDF4CF0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62075"/>
            <a:ext cx="847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21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 category match does not establish material acceptance.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E1C94FB-791D-450A-AB76-C3ED6733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0980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THE BUSINESS PROBLEM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49AE0FF-3E35-41CB-9463-BE5DA508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Generators and buyers describe the same material differently. A promising listing can still fail on moisture, contaminants, grade or usable cost.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60C9242-2416-425A-88A6-140D52ED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0980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OUR WORKING SOLUTION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D7AFD09-8125-4E81-910D-3C620D60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 global exchange retrieves possible counterparts, checks sourced specifications and explains a supported change to investigate before a trade.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D6BC272-0B05-462D-8836-7B36DC6F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291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Theme: Sustainability &amp; Social Impact — resource efficiency and informed decisions. No completed recovery or emissions savings claimed.</a:t>
            </a:r>
          </a:p>
        </p:txBody>
      </p:sp>
    </p:spTree>
    <p:extLst>
      <p:ext uri="{BB962C8B-B14F-4D97-AF65-F5344CB8AC3E}">
        <p14:creationId xmlns:p14="http://schemas.microsoft.com/office/powerpoint/2010/main" val="18232686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A61B1350-1CC3-44F9-9E27-DAC448B81E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edbcc50c87453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1BA49859-66AB-4E71-B8D1-A04C094110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5671251e9474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E630F4D2-8433-40B4-B0EB-6EC039CE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>
            <a:extLst xmlns:a="http://schemas.openxmlformats.org/drawingml/2006/main">
              <a:ext uri="{FF2B5EF4-FFF2-40B4-BE49-F238E27FC236}">
                <a16:creationId xmlns:a16="http://schemas.microsoft.com/office/drawing/2014/main" id="{020DA193-A89D-4AFB-B70D-D1EFC2A0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FFD5320-BB20-4B33-88F5-591F45E5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81125"/>
            <a:ext cx="833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How is this different?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02DBD70-5D35-448C-8BEB-DCE9D58E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85925"/>
            <a:ext cx="83343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Search retrieves possibilities by meaning. Typed checks then distinguish a stated fit, an unknown fact, a failed condition and an incompatible material.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C361607-3E05-47FE-A27B-79DD1526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00300"/>
            <a:ext cx="833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How will it solve the problem?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E8477BE-C9BE-4AE4-9D94-B01C9EB1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05100"/>
            <a:ext cx="83343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Translate evidence into comparable units. Investigate a documented process for a partial fit. Recalculate economics from quotes and measured yield.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DDB3778-5469-4997-9131-45077BF5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19475"/>
            <a:ext cx="833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Our proposed USP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E83C506-2BD6-4080-9F93-8A87ECF9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24275"/>
            <a:ext cx="83343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 smallest-supported-change investigation explains what a partial match needs. It preserves the failed condition until a trial and retest support acceptance.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AD7A3F6-CB1C-47CF-A70A-DB4A05E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291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Existing exchanges also match materials. Our proposed distinction is the combined evidence, constraint and conditional-processing workflow. Pilot validation is pending.</a:t>
            </a:r>
          </a:p>
        </p:txBody>
      </p:sp>
    </p:spTree>
    <p:extLst>
      <p:ext uri="{BB962C8B-B14F-4D97-AF65-F5344CB8AC3E}">
        <p14:creationId xmlns:p14="http://schemas.microsoft.com/office/powerpoint/2010/main" val="6011865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6CCC1341-23C6-4AB5-8BC3-2615DD7160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d10f9165f64c42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7D2CE005-2040-4FB0-9C48-12864725E6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ec42710d747e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EFA6AF39-334C-4ADA-9B0B-C6576058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E3F23A04-EACF-434E-9556-621B0BD5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6DBA02A-FB54-4653-92F2-E8F68BFC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5255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01 / GLOBAL REGISTERED EXCHANGE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CC60FE0-641F-4232-9CEC-3FF05D5F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Verified Google/email accounts; buyer requests and seller offers; country filters; owner controls; 30-day expiry.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1BEA6F5-A3EC-4C02-8610-C0CE4949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5255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02 / HYBRID RETRIEVAL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C567049-5AE1-4B51-87B4-3027AB0C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Alias/IDF overlap + actual 768-dimensional Gemini vectors + curated process edges, fused by reciprocal rank.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5320F6C-6BD8-4320-AC9E-DDAC7605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4800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03 / ACCEPTANCE PASSPORT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343FF34-59AB-4DF4-96F1-877CE930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099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12 typed facts with quotations, references and review state. Compatible-unit checks return pass, fail or unknown.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7BF5275-3422-4B73-9BE4-DFADF26E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04 / DECISIONS AND FOLLOW-THROUGH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10DF289-3B80-493D-A696-9E8BF915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Conditioning investigations, sourced landed costs, private review/outcomes; public recovery directory and Recast assistant.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79E1CAD-1BA3-429F-8995-739BBD11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291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Vector search requires verified sign-in. Missing vectors trigger a labelled alias/process fallback. Public directory listings are not registered users.</a:t>
            </a:r>
          </a:p>
        </p:txBody>
      </p:sp>
    </p:spTree>
    <p:extLst>
      <p:ext uri="{BB962C8B-B14F-4D97-AF65-F5344CB8AC3E}">
        <p14:creationId xmlns:p14="http://schemas.microsoft.com/office/powerpoint/2010/main" val="10451266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043652B6-55BF-4EAB-AE4F-7674A78D44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8ced9e53a04ba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A0289D5F-7EF0-47BE-82D9-34DA3CD700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cef3ac120487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231F80F5-7B06-4C68-87A8-A639A3A9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F9A71EDD-B6D1-4E30-B1AB-70BC4A08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156A472-2152-4E47-8970-2FED723D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66850"/>
            <a:ext cx="1981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7C915BC-46BA-4BE2-B6B0-DC5612BD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1  Describe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Offer or requirement</a:t>
            </a:r>
          </a:p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Optional evidence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283218D-48D4-453E-B979-36C23B90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1455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FE8F5CF-4D5E-41C3-9761-747970A2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466850"/>
            <a:ext cx="1981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B48D505-9324-4564-A70A-1CC2316F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6002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2  Retrieve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Aliases + vectors</a:t>
            </a:r>
          </a:p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Process edges / RRF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BC7022D-8465-48F3-980C-994DF136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1455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DE4C993-1163-40B5-9D98-C4D64F82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66850"/>
            <a:ext cx="1981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6ABFE98-8AFD-4C2A-A2D5-CD06B4CB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002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3 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Typed pass/fail/unknown</a:t>
            </a:r>
          </a:p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explanation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56A7E86-DEEC-4DBF-A5FF-9A87A278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1455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0FD085C-1B24-4969-B040-E9CB5BC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466850"/>
            <a:ext cx="1981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074F5C6-B574-4A37-8AF2-36D1E18A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002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4  Investigate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Supported operations</a:t>
            </a:r>
          </a:p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Quotes + usable yield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2847420-2283-4CE3-9F75-01879D17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62325"/>
            <a:ext cx="85725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531C894-4F77-4073-9F78-D08CFE48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95675"/>
            <a:ext cx="8305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5  Confirm with the counterpart</a:t>
            </a:r>
          </a:p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Sample trial and retest → current authorization → written acceptance → commercial terms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FAD74EA-E54B-49FB-A922-66357AF8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291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AI interprets and explains; deterministic checks and calculations remain inspectable. A human confirms acceptance before any movement.</a:t>
            </a:r>
          </a:p>
        </p:txBody>
      </p:sp>
    </p:spTree>
    <p:extLst>
      <p:ext uri="{BB962C8B-B14F-4D97-AF65-F5344CB8AC3E}">
        <p14:creationId xmlns:p14="http://schemas.microsoft.com/office/powerpoint/2010/main" val="18973186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5BF7F355-316B-4565-9B0A-F67E82515E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7c422edc234b7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A9ED0352-E6F0-4BD2-95FA-156F1EAF5B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69c359b8c4a7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48468EEB-BC8B-4133-895F-D507A6C5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>
            <a:extLst xmlns:a="http://schemas.openxmlformats.org/drawingml/2006/main">
              <a:ext uri="{FF2B5EF4-FFF2-40B4-BE49-F238E27FC236}">
                <a16:creationId xmlns:a16="http://schemas.microsoft.com/office/drawing/2014/main" id="{F50201CD-EC14-4DB1-A39F-CD7A7415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E61391E-F1D7-4071-85D9-2F204D7EC7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79ce4498d455b"/>
          <a:stretch xmlns:a="http://schemas.openxmlformats.org/drawingml/2006/main"/>
        </p:blipFill>
        <p:spPr>
          <a:xfrm xmlns:a="http://schemas.openxmlformats.org/drawingml/2006/main">
            <a:off x="285750" y="1353397"/>
            <a:ext cx="5429250" cy="3055831"/>
          </a:xfrm>
          <a:prstGeom xmlns:a="http://schemas.openxmlformats.org/drawingml/2006/main" prst="rect">
            <a:avLst/>
          </a:prstGeom>
        </p:spPr>
      </p:pic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3E3874B-307A-4B77-9C8C-19710C2F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00175"/>
            <a:ext cx="2714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ACTUAL INTERFACE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39E2E06-FA65-4CD6-A8C6-0E98BFF8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27146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8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1. Compare meaning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8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2. Inspect each condition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8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3. Resolve evidence gaps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766D18F-8580-48D9-AA01-C936CC1A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291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Actual deployed interface. Illustrative material and counterpart specifications. Facts retain review and source status.</a:t>
            </a:r>
          </a:p>
        </p:txBody>
      </p:sp>
    </p:spTree>
    <p:extLst>
      <p:ext uri="{BB962C8B-B14F-4D97-AF65-F5344CB8AC3E}">
        <p14:creationId xmlns:p14="http://schemas.microsoft.com/office/powerpoint/2010/main" val="20923247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2932D20-0B8A-4E79-BCC7-FF4DA0EE0413}"/>
              </a:ext>
            </a:extLst>
          </p:cNvPr>
          <p:cNvCxnSpPr>
            <a:stCxn xmlns:a="http://schemas.openxmlformats.org/drawingml/2006/main" id="112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>
            <a:off x="4572000" y="2143125"/>
            <a:ext cx="295275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85F4"/>
            </a:solidFill>
            <a:headEnd type="triangle" w="sm" len="sm"/>
            <a:tailEnd type="triangle" w="sm" len="sm"/>
          </a:ln>
        </p:spPr>
      </p:cxnSp>
      <p:cxnSp>
        <p:nvCxn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57FB6D4-C47A-4531-81D0-5A0A7A9FD595}"/>
              </a:ext>
            </a:extLst>
          </p:cNvPr>
          <p:cNvCxnSpPr>
            <a:stCxn xmlns:a="http://schemas.openxmlformats.org/drawingml/2006/main" id="112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4572000" y="21431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85F4"/>
            </a:solidFill>
            <a:headEnd type="triangle" w="sm" len="sm"/>
            <a:tailEnd type="triangle" w="sm" len="sm"/>
          </a:ln>
        </p:spPr>
      </p:cxnSp>
      <p:cxnSp>
        <p:nvCxn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93C0FC7-AAD0-40BF-80FF-1F223584FE0E}"/>
              </a:ext>
            </a:extLst>
          </p:cNvPr>
          <p:cNvCxnSpPr>
            <a:stCxn xmlns:a="http://schemas.openxmlformats.org/drawingml/2006/main" id="112" idx="2"/>
            <a:endCxn xmlns:a="http://schemas.openxmlformats.org/drawingml/2006/main" id="114" idx="0"/>
          </p:cNvCxnSpPr>
          <p:nvPr/>
        </p:nvCxnSpPr>
        <p:spPr>
          <a:xfrm xmlns:a="http://schemas.openxmlformats.org/drawingml/2006/main" flipH="1">
            <a:off x="1619250" y="2143125"/>
            <a:ext cx="295275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85F4"/>
            </a:solidFill>
            <a:headEnd type="triangle" w="sm" len="sm"/>
            <a:tailEnd type="triangle" w="sm" len="sm"/>
          </a:ln>
        </p:spPr>
      </p:cxnSp>
      <p:pic>
        <p:nvPicPr>
          <p:cNvPr id="108" name="Google Shape;108;p20">
            <a:extLst xmlns:a="http://schemas.openxmlformats.org/drawingml/2006/main">
              <a:ext uri="{FF2B5EF4-FFF2-40B4-BE49-F238E27FC236}">
                <a16:creationId xmlns:a16="http://schemas.microsoft.com/office/drawing/2014/main" id="{F625D423-71EC-4DD1-A07D-9CBA938A2B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4e3898ab284e6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9" name="Google Shape;109;p20">
            <a:extLst xmlns:a="http://schemas.openxmlformats.org/drawingml/2006/main">
              <a:ext uri="{FF2B5EF4-FFF2-40B4-BE49-F238E27FC236}">
                <a16:creationId xmlns:a16="http://schemas.microsoft.com/office/drawing/2014/main" id="{4797018F-4739-41ED-8488-2FE8DB55AD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e4ffa6adb4d3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F0ABB1AE-6DEF-452C-92BB-76D00B3C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4EBFEB74-823F-49F0-B83B-2F563E12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3E0DA5D-6F70-4F66-8A1F-BC9137C5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304925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96B9D4C-9037-41EF-9955-86FCF951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438275"/>
            <a:ext cx="3638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User browser / Firebase Hosting</a:t>
            </a:r>
          </a:p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Auth + evidence passport + acceptance checks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68213D2-0936-4775-BBCE-F0977ADD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62250"/>
            <a:ext cx="26670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463466A-1528-4135-8E4F-4A4F9B75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95600"/>
            <a:ext cx="2400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Cloud Firestore</a:t>
            </a:r>
          </a:p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Listings, private profiles</a:t>
            </a:r>
          </a:p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Reviews + quota counters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ACA0385-03CD-4FFB-A820-B8A423C6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62250"/>
            <a:ext cx="26670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697743C-CCC7-4E7C-A0A2-27FC9FF3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95600"/>
            <a:ext cx="2400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Firebase AI Logic</a:t>
            </a:r>
          </a:p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App Check → Gemini</a:t>
            </a:r>
          </a:p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Extract + explain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D6B86E2-AAFF-4A36-8514-5C8EDF9D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6670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7E0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80BB4BE-AC1F-4159-A423-79D8A9AF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400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Private Vercel service</a:t>
            </a:r>
          </a:p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App Check; auth for vectors</a:t>
            </a:r>
          </a:p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Embeddings / Live tokens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C3C30AD-E4A2-4C86-8DBB-904F01EC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1338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Actual vectors + aliases + process edges → rank fusion → typed checks → conditional investigation.</a:t>
            </a:r>
          </a:p>
          <a:p xmlns:a="http://schemas.openxmlformats.org/drawingml/2006/main">
            <a:pPr>
              <a:defRPr sz="13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Financial feasibility uses entered quotes and usable yield, separately from semantic fit.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61CC2B4-7EA0-4CB2-818B-98343A3C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291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Firebase is the deployed hosting path. Cloud Run is not deployed. API keys stay server-side; model and database free quotas apply.</a:t>
            </a:r>
          </a:p>
        </p:txBody>
      </p:sp>
    </p:spTree>
    <p:extLst>
      <p:ext uri="{BB962C8B-B14F-4D97-AF65-F5344CB8AC3E}">
        <p14:creationId xmlns:p14="http://schemas.microsoft.com/office/powerpoint/2010/main" val="3651218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62C3DF69-5ACB-442A-B0EA-B0A7DCCB82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1a3047b1974a22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E95351E4-C72B-4318-89DE-426BD0EBA5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db5f9626c417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26481579-218E-4E43-9943-A3A105A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>
            <a:extLst xmlns:a="http://schemas.openxmlformats.org/drawingml/2006/main">
              <a:ext uri="{FF2B5EF4-FFF2-40B4-BE49-F238E27FC236}">
                <a16:creationId xmlns:a16="http://schemas.microsoft.com/office/drawing/2014/main" id="{079C2632-E061-4F1C-9386-74B9C4F0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4E3A80C-6718-4D08-8827-E3E9C0B3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52550"/>
            <a:ext cx="2400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Firebase Hosting + Auth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B0B8426-50CD-4804-B35B-12C47EF9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352550"/>
            <a:ext cx="6000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Public HTTPS app; Google/email sign-in; verified owners manage exchange listings.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3701765-D7D1-481F-8846-2523B4B2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81200"/>
            <a:ext cx="2400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Cloud Firestore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BEA0246-287B-4E7F-9065-4A9F0C3B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81200"/>
            <a:ext cx="6000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Global offers/requests, consented business contacts, private reviews and durable embedding quotas; sourced directory.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4D8D32E-D5E9-4E17-8746-885861A9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09850"/>
            <a:ext cx="2400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Gemini + Firebase AI Logic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DB76B0E-825F-4671-BE6F-8F63F9A7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09850"/>
            <a:ext cx="6000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Evidence extraction and constrained semantic explanations. App Check protects public requests.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1CE1111-5117-4578-9D14-D7346BF6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38500"/>
            <a:ext cx="2400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Gemini embeddings + Live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B94D1D1-14D7-4039-A83B-37C431E7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38500"/>
            <a:ext cx="6000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768-dimensional semantic vectors; private Vercel endpoint; one-use Live voice tokens.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67FA271-F460-4377-928A-A0629223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67150"/>
            <a:ext cx="2400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Application logic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AC9A4B7-9B12-4F8B-BA6D-5E1D85BF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67150"/>
            <a:ext cx="6000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Alias/IDF + cosine + RRF retrieval; typed unit checks; curated process solver; referenced landed-cost calculation.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1955CA7-F9BF-4CEA-810A-F6C465A0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291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No Cloud Run, Cloud SQL, BigQuery, paid vector database or Vertex AI deployment. Firebase is the chosen permitted hosting path.</a:t>
            </a:r>
          </a:p>
        </p:txBody>
      </p:sp>
    </p:spTree>
    <p:extLst>
      <p:ext uri="{BB962C8B-B14F-4D97-AF65-F5344CB8AC3E}">
        <p14:creationId xmlns:p14="http://schemas.microsoft.com/office/powerpoint/2010/main" val="11841821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24;p22">
            <a:extLst xmlns:a="http://schemas.openxmlformats.org/drawingml/2006/main">
              <a:ext uri="{FF2B5EF4-FFF2-40B4-BE49-F238E27FC236}">
                <a16:creationId xmlns:a16="http://schemas.microsoft.com/office/drawing/2014/main" id="{A4CC13B1-DDE8-42BB-A95B-06C44F983D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d52fd7e55140a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D75394E8-792F-4A82-B0DC-AC55CACCC9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e8d97eb984aa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18D892E8-32C5-4541-A1FB-8F2C0F5C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>
            <a:extLst xmlns:a="http://schemas.openxmlformats.org/drawingml/2006/main">
              <a:ext uri="{FF2B5EF4-FFF2-40B4-BE49-F238E27FC236}">
                <a16:creationId xmlns:a16="http://schemas.microsoft.com/office/drawing/2014/main" id="{AEE6D57D-F4D1-4AC2-A02F-451C28FA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DF44DCE-69D9-497F-9610-51EFE37A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81125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22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Current prototype: configured for free tiers.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BCA0DDA-E1FA-4325-8405-5230ED2E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05025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CURRENT SETUP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BBEE9B1-4B79-4315-8184-823CBFCE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66975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Firebase Spark + free Gemini quota + existing Vercel project. No Google Cloud billing account linked.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5BECE39-C495-4A46-A358-3007634E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05025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SCALING APPROACH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979B1C3-0DB7-4EC5-BA42-CB821E13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66975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Static delivery; bounded 200-candidate initial pool; vector cache; durable 240-text/account/24-hour embedding budget; transparent fallback.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192A2D1-EEE5-437C-B2E2-232A375F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75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Before a paid rollout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E2B879A-9A5F-4821-855A-6E7043AC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7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Measure traffic and model usage. Add server retrieval indexes, durable vector caching, moderation and monitoring before broad rollout.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0858E6F-24B6-470C-B8AB-9B26829F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291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No cost or unlimited-availability guarantee. A paid production estimate requires measured traffic and current provider pricing.</a:t>
            </a:r>
          </a:p>
        </p:txBody>
      </p:sp>
    </p:spTree>
    <p:extLst>
      <p:ext uri="{BB962C8B-B14F-4D97-AF65-F5344CB8AC3E}">
        <p14:creationId xmlns:p14="http://schemas.microsoft.com/office/powerpoint/2010/main" val="1071643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CEBF6A48-2B6F-40DA-A74C-B6CFD8A85A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85589967e194c0d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6EF0C476-8DC5-42A4-9C5A-A5EA895DAD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d1213f8ad4b7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D65330E6-B713-4F47-96D3-CE8EA098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>
            <a:extLst xmlns:a="http://schemas.openxmlformats.org/drawingml/2006/main">
              <a:ext uri="{FF2B5EF4-FFF2-40B4-BE49-F238E27FC236}">
                <a16:creationId xmlns:a16="http://schemas.microsoft.com/office/drawing/2014/main" id="{01440FE7-A316-4F03-A149-40399191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B700218-D639-4C22-BAD0-CA16ED0B7E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b5494fe3e44e4"/>
          <a:stretch xmlns:a="http://schemas.openxmlformats.org/drawingml/2006/main"/>
        </p:blipFill>
        <p:spPr>
          <a:xfrm xmlns:a="http://schemas.openxmlformats.org/drawingml/2006/main">
            <a:off x="285750" y="1410547"/>
            <a:ext cx="5429250" cy="3055831"/>
          </a:xfrm>
          <a:prstGeom xmlns:a="http://schemas.openxmlformats.org/drawingml/2006/main" prst="rect">
            <a:avLst/>
          </a:prstGeom>
        </p:spPr>
      </p:pic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20AE7F8-E7AD-4282-86D2-7C8E4B85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0970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PARTIAL FIT → NEXT STEP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35F3587-EE73-4BF1-8716-7BD45062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2667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PP identity: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Moisture: fail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Drying: investigate, then retest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406E482-A14F-451A-BA70-8872123E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291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Actual public-app capture. Illustrative PP facts and buyer requirements. A conditioning suggestion does not establish successful acceptance.</a:t>
            </a:r>
          </a:p>
        </p:txBody>
      </p:sp>
    </p:spTree>
    <p:extLst>
      <p:ext uri="{BB962C8B-B14F-4D97-AF65-F5344CB8AC3E}">
        <p14:creationId xmlns:p14="http://schemas.microsoft.com/office/powerpoint/2010/main" val="74164655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7E5AA517-B488-4BC5-859F-A6B5ED8E67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04adf7d5f348d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CA4A335C-D11F-4CC9-AB71-C3FF36FE7F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4706bebb1490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39909D9F-7AA8-4B90-9B30-ACAE88A7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>
            <a:extLst xmlns:a="http://schemas.openxmlformats.org/drawingml/2006/main">
              <a:ext uri="{FF2B5EF4-FFF2-40B4-BE49-F238E27FC236}">
                <a16:creationId xmlns:a16="http://schemas.microsoft.com/office/drawing/2014/main" id="{7A130901-6DA9-435E-8917-F3CDFF45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2B23B86-D926-442F-B70A-61E23CC0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7160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57 AUTOMATED TESTS PASS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2F05DF8-3424-40ED-8F54-2D9F41D7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335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Regression tests cover retrieval, units, conflicting evidence, unknowns, economics, security and existing voice controls.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F975430-6FC4-42CA-B32C-076A374E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7160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24 AUTHORED ACCEPTANCE CASES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672E0A5-5580-4540-BAED-877A3A9E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335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24/24 expected decisions. Tests include missing facts, contradictions, hard conflicts and process conditions. Expert labels pending.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C199B87-1F08-400C-9E83-583DE530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57525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LIVE SERVICE CHECKS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667AC30-4CC3-4BC1-BE5D-5C89CDA6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19475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29 cloud/access checks and 13 Firebase SDK checks pass. Actual 768-dimensional vectors and public Gemini explanations tested.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A895715-AC78-4B82-8656-404A8934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57525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LIMITED LIVE EVALUATION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829CB22-7A46-4812-A864-5B9E6B8E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19475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One scenario, 3 model runs: conditional in all three; scores 55/70/65. Two 31-record retrieval fixtures: target ranked first.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7AB30B4-5B02-42FA-9A20-98168295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291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18 October 2026. Authored fixtures and service tests are not market accuracy. No independent expert study, load benchmark or verified trade result.</a:t>
            </a:r>
          </a:p>
        </p:txBody>
      </p:sp>
    </p:spTree>
    <p:extLst>
      <p:ext uri="{BB962C8B-B14F-4D97-AF65-F5344CB8AC3E}">
        <p14:creationId xmlns:p14="http://schemas.microsoft.com/office/powerpoint/2010/main" val="212784733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43BC03A9-7E97-4221-AF11-DA11D8C00D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a448a147fc42c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2F98086E-2964-46FC-9B82-5B036D627C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70353f09d4fc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C55C2C2E-E475-423E-AC6C-3FE1ED36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40B26A6E-AB36-4883-8A74-6429C1E2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8B2FD39-81D2-4CE5-812B-8EEA92B0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81125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NEXT / VERIFIED PILOT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6298034-E36F-417E-82E6-EBCC2A3E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43075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Onboard consenting buyers and sellers. Validate evidence, accepted specifications, sample outcomes and written commercial terms.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AC1D007-08F7-417D-B68B-CE79E22C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81125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PILOT / PROVE THE VALUE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B6D2C1D-E586-4450-AA68-F9B737DA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43075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Measure time to qualified enquiry, acceptance rate and verified recovered mass with real generator–recycler pairs.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BEE1FE4-C75C-4087-BC29-C57EC54A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95625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SCALE / OPERATE RELIABLY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3078020-2FF7-428C-A2F8-E98A354D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57575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Server-side retrieval indexes, shared vector caching, abuse controls, monitoring and dated regional source refreshes.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ACB13C4-BDC6-439F-8EB9-3BA13B4A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95625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EXPAND / QUOTED ECONOMICS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2F8B5C7-FF78-4A75-917C-1261F487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57575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Road-route distances, buyer-specific logistics quotes and auditable price comparisons. These are not live today.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85B7D46-2F5D-4D76-9364-E1A38D51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291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Initial search coverage is bounded, with manual pagination. No claim of exhaustive global retrieval, perfect matching or measured environmental benefit.</a:t>
            </a:r>
          </a:p>
        </p:txBody>
      </p:sp>
    </p:spTree>
    <p:extLst>
      <p:ext uri="{BB962C8B-B14F-4D97-AF65-F5344CB8AC3E}">
        <p14:creationId xmlns:p14="http://schemas.microsoft.com/office/powerpoint/2010/main" val="43693659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91CB88DB-2F4A-4B96-A087-AD095FEB78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beede17a8440e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9577383F-5DD3-417A-ABA9-A9D0AA4B31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c6e26767e43c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51071D93-0670-44A9-B00A-E314C587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D78F5322-9B94-4474-A1CD-19172441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2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FFA2BBF-CC29-4670-AA51-FC662633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001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FINAL PRODUCT LINK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1D0ACEB-640B-4E91-91C8-A57D0CF6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6212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20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hlinkClick xmlns:r="http://schemas.openxmlformats.org/officeDocument/2006/relationships" r:id="Rae9815693b5a452c"/>
              </a:rPr>
              <a:t>https://wasterecast.web.app/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123B303-9A85-4175-8E09-73D0B083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0982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GITHUB PUBLIC REPOSITORY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5C5B12B-C469-40DD-9A20-5E718EB7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7177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8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hlinkClick xmlns:r="http://schemas.openxmlformats.org/officeDocument/2006/relationships" r:id="Rab5fbbd0bfea4b2b"/>
              </a:rPr>
              <a:t>https://github.com/anshuman542018/wasterecast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E151FBC-805D-4B60-98C8-3F8726E6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194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UPDATED DEMO VIDEO / 3 MINUTES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B0ACBB7-06F2-4772-9D25-CA00906B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00475"/>
            <a:ext cx="8572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hlinkClick xmlns:r="http://schemas.openxmlformats.org/officeDocument/2006/relationships" r:id="Raa74300038e54f36"/>
              </a:rPr>
              <a:t>https://drive.google.com/file/d/1e1EyM-4qKs6WXAbR9nq35Z9UsCGghN5u/view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A0A6404-8E5E-4E3B-B793-BD6F0915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291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All links must be accessible without requesting access. Submit the PDF exported from this prescribed template.</a:t>
            </a:r>
          </a:p>
        </p:txBody>
      </p:sp>
    </p:spTree>
    <p:extLst>
      <p:ext uri="{BB962C8B-B14F-4D97-AF65-F5344CB8AC3E}">
        <p14:creationId xmlns:p14="http://schemas.microsoft.com/office/powerpoint/2010/main" val="84047991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CECC00D6-EE88-4409-A75F-B95B75EBFF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cb8b3460da442df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1E283F32-2BCC-4511-AF65-C090495D57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187330cd040f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67CDEF01-AE5C-4AA9-AD1F-7E13C9E9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6DEAD74-E513-4C67-8288-8594AC6C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9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Evidence, boundaries and evaluation readiness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DCDDE766-142B-4147-8B5C-C9244696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620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21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Every proposed trade needs evidence and acceptance.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EE81FAA-0578-4243-8D61-3121D7DD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09800"/>
            <a:ext cx="1952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Two data sources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F08172A-6C23-4288-B901-7E873E4B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209800"/>
            <a:ext cx="638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Registered listings are self-declared. The separate 912-record India directory and worldwide map leads need verification.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0DC33A82-C4ED-4D0A-B6AD-A9609E3E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81300"/>
            <a:ext cx="1952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AI and fixed checks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CD70136-9D09-4F2D-804C-E8CA6D1C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81300"/>
            <a:ext cx="638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Fixed checks preserve failures and unknowns. Gemini fit scores are uncalibrated estimates, never acceptance certificates.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467BE016-498E-4C15-839F-3461A6DA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2800"/>
            <a:ext cx="1952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Conditioning and cost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DC8B565-37FA-481A-9DDE-845856D9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52800"/>
            <a:ext cx="638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Processing needs a trial, retest and written acceptance. Costs require references; no yield or FX is invented.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04CE98B-642E-41F9-BEF4-F8EEDAC8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1952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</a:rPr>
              <a:t>Evaluation access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DE30A6A-97DF-4E47-A14A-01A58E53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24300"/>
            <a:ext cx="638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Public app and source. Free quotas apply. Expert validation and verified commercial outcomes remain pending.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C3AB288-BB93-402E-BE7A-81A96EAB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291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Document uploads use Google free-tier processing terms. Business contacts need publication consent. Private profiles/reviews have owner-only access.</a:t>
            </a:r>
          </a:p>
        </p:txBody>
      </p:sp>
    </p:spTree>
    <p:extLst>
      <p:ext uri="{BB962C8B-B14F-4D97-AF65-F5344CB8AC3E}">
        <p14:creationId xmlns:p14="http://schemas.microsoft.com/office/powerpoint/2010/main" val="172869442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7F7608E7-DC68-4DF6-8F70-FBBE1D73B4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d18a2d48f54ce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0E73F857-DB37-4C8D-81F5-D794596936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0e46fa450416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93415022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2026-10-18T04:34:52.9150000Z</dcterms:created>
  <dcterms:modified xsi:type="dcterms:W3CDTF">2026-10-18T04:34:52.9150000Z</dcterms:modified>
</coreProperties>
</file>