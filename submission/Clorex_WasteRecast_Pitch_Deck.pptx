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9ce876de884a81" /><Relationship Type="http://schemas.openxmlformats.org/officeDocument/2006/relationships/extended-properties" Target="/docProps/app.xml" Id="Raacf0382ed4143dc" /><Relationship Type="http://schemas.openxmlformats.org/officeDocument/2006/relationships/officeDocument" Target="/ppt/presentation.xml" Id="R8c260c63f6ba4b7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8ddc481c42e456a"/>
  </p:sldMasterIdLst>
  <p:notesMasterIdLst>
    <p:notesMasterId xmlns:r="http://schemas.openxmlformats.org/officeDocument/2006/relationships" r:id="R9a0458b6d81a4be9"/>
  </p:notesMasterIdLst>
  <p:sldIdLst>
    <p:sldId xmlns:r="http://schemas.openxmlformats.org/officeDocument/2006/relationships" id="256" r:id="R022478e5463a4ea4"/>
    <p:sldId xmlns:r="http://schemas.openxmlformats.org/officeDocument/2006/relationships" id="257" r:id="R3e357c9fb31f482d"/>
    <p:sldId xmlns:r="http://schemas.openxmlformats.org/officeDocument/2006/relationships" id="258" r:id="R8615fd4155f9442a"/>
    <p:sldId xmlns:r="http://schemas.openxmlformats.org/officeDocument/2006/relationships" id="259" r:id="R40759cc1596f458a"/>
    <p:sldId xmlns:r="http://schemas.openxmlformats.org/officeDocument/2006/relationships" id="260" r:id="R97dc9b48bef6471b"/>
    <p:sldId xmlns:r="http://schemas.openxmlformats.org/officeDocument/2006/relationships" id="261" r:id="Rf67d3e1a1ac94049"/>
    <p:sldId xmlns:r="http://schemas.openxmlformats.org/officeDocument/2006/relationships" id="262" r:id="R386d64c1bd624d52"/>
    <p:sldId xmlns:r="http://schemas.openxmlformats.org/officeDocument/2006/relationships" id="263" r:id="Rdeaa978f7ea34938"/>
    <p:sldId xmlns:r="http://schemas.openxmlformats.org/officeDocument/2006/relationships" id="264" r:id="R474e691b6e17400a"/>
    <p:sldId xmlns:r="http://schemas.openxmlformats.org/officeDocument/2006/relationships" id="265" r:id="R21ae456edfae4510"/>
    <p:sldId xmlns:r="http://schemas.openxmlformats.org/officeDocument/2006/relationships" id="266" r:id="R55235c61992a4a58"/>
    <p:sldId xmlns:r="http://schemas.openxmlformats.org/officeDocument/2006/relationships" id="267" r:id="R63b39ae7a6d7438b"/>
    <p:sldId xmlns:r="http://schemas.openxmlformats.org/officeDocument/2006/relationships" id="268" r:id="R4bfe9cf06cb3415e"/>
    <p:sldId xmlns:r="http://schemas.openxmlformats.org/officeDocument/2006/relationships" id="269" r:id="Rc9436b4a46f44389"/>
    <p:sldId xmlns:r="http://schemas.openxmlformats.org/officeDocument/2006/relationships" id="270" r:id="R63c03a2aaa7d4dae"/>
    <p:sldId xmlns:r="http://schemas.openxmlformats.org/officeDocument/2006/relationships" id="271" r:id="R063fadd3263a4cd6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6cedbd006fee4a39"/>
      <p:bold xmlns:r="http://schemas.openxmlformats.org/officeDocument/2006/relationships" r:id="Re129ea9a5ea14ce0"/>
    </p:embeddedFont>
    <p:embeddedFont>
      <p:font typeface="Google Sans Flex"/>
      <p:regular xmlns:r="http://schemas.openxmlformats.org/officeDocument/2006/relationships" r:id="R332ba64cb07e40e9"/>
      <p:bold xmlns:r="http://schemas.openxmlformats.org/officeDocument/2006/relationships" r:id="Re9143949ff9f4099"/>
    </p:embeddedFont>
    <p:embeddedFont>
      <p:font typeface="Google Sans Flex SemiBold"/>
      <p:regular xmlns:r="http://schemas.openxmlformats.org/officeDocument/2006/relationships" r:id="Rc43557c7c4b94bb9"/>
      <p:bold xmlns:r="http://schemas.openxmlformats.org/officeDocument/2006/relationships" r:id="R1a1ec06882d04c63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056740f2784de2" /><Relationship Type="http://schemas.openxmlformats.org/officeDocument/2006/relationships/slideMaster" Target="/ppt/slideMasters/slideMaster1.xml" Id="Rb8ddc481c42e456a" /><Relationship Type="http://schemas.openxmlformats.org/officeDocument/2006/relationships/notesMaster" Target="/ppt/notesMasters/notesMaster1.xml" Id="R9a0458b6d81a4be9" /><Relationship Type="http://schemas.openxmlformats.org/officeDocument/2006/relationships/presProps" Target="/ppt/presProps.xml" Id="R1a5ea9e324864dd3" /><Relationship Type="http://schemas.openxmlformats.org/officeDocument/2006/relationships/viewProps" Target="/ppt/viewProps.xml" Id="R4b936288a525474a" /><Relationship Type="http://schemas.openxmlformats.org/officeDocument/2006/relationships/tableStyles" Target="/ppt/tableStyles.xml" Id="R7f9d5a7883b24795" /><Relationship Type="http://schemas.openxmlformats.org/officeDocument/2006/relationships/font" Target="/ppt/fonts/font.dat" Id="R6cedbd006fee4a39" /><Relationship Type="http://schemas.openxmlformats.org/officeDocument/2006/relationships/font" Target="/ppt/fonts/font2.dat" Id="Re129ea9a5ea14ce0" /><Relationship Type="http://schemas.openxmlformats.org/officeDocument/2006/relationships/font" Target="/ppt/fonts/font3.dat" Id="R332ba64cb07e40e9" /><Relationship Type="http://schemas.openxmlformats.org/officeDocument/2006/relationships/font" Target="/ppt/fonts/font4.dat" Id="Re9143949ff9f4099" /><Relationship Type="http://schemas.openxmlformats.org/officeDocument/2006/relationships/font" Target="/ppt/fonts/font5.dat" Id="Rc43557c7c4b94bb9" /><Relationship Type="http://schemas.openxmlformats.org/officeDocument/2006/relationships/font" Target="/ppt/fonts/font6.dat" Id="R1a1ec06882d04c63" /><Relationship Type="http://schemas.openxmlformats.org/officeDocument/2006/relationships/slide" Target="/ppt/slides/slide1.xml" Id="R022478e5463a4ea4" /><Relationship Type="http://schemas.openxmlformats.org/officeDocument/2006/relationships/slide" Target="/ppt/slides/slide2.xml" Id="R3e357c9fb31f482d" /><Relationship Type="http://schemas.openxmlformats.org/officeDocument/2006/relationships/slide" Target="/ppt/slides/slide3.xml" Id="R8615fd4155f9442a" /><Relationship Type="http://schemas.openxmlformats.org/officeDocument/2006/relationships/slide" Target="/ppt/slides/slide4.xml" Id="R40759cc1596f458a" /><Relationship Type="http://schemas.openxmlformats.org/officeDocument/2006/relationships/slide" Target="/ppt/slides/slide5.xml" Id="R97dc9b48bef6471b" /><Relationship Type="http://schemas.openxmlformats.org/officeDocument/2006/relationships/slide" Target="/ppt/slides/slide6.xml" Id="Rf67d3e1a1ac94049" /><Relationship Type="http://schemas.openxmlformats.org/officeDocument/2006/relationships/slide" Target="/ppt/slides/slide7.xml" Id="R386d64c1bd624d52" /><Relationship Type="http://schemas.openxmlformats.org/officeDocument/2006/relationships/slide" Target="/ppt/slides/slide8.xml" Id="Rdeaa978f7ea34938" /><Relationship Type="http://schemas.openxmlformats.org/officeDocument/2006/relationships/slide" Target="/ppt/slides/slide9.xml" Id="R474e691b6e17400a" /><Relationship Type="http://schemas.openxmlformats.org/officeDocument/2006/relationships/slide" Target="/ppt/slides/slide10.xml" Id="R21ae456edfae4510" /><Relationship Type="http://schemas.openxmlformats.org/officeDocument/2006/relationships/slide" Target="/ppt/slides/slide11.xml" Id="R55235c61992a4a58" /><Relationship Type="http://schemas.openxmlformats.org/officeDocument/2006/relationships/slide" Target="/ppt/slides/slide12.xml" Id="R63b39ae7a6d7438b" /><Relationship Type="http://schemas.openxmlformats.org/officeDocument/2006/relationships/slide" Target="/ppt/slides/slide13.xml" Id="R4bfe9cf06cb3415e" /><Relationship Type="http://schemas.openxmlformats.org/officeDocument/2006/relationships/slide" Target="/ppt/slides/slide14.xml" Id="Rc9436b4a46f44389" /><Relationship Type="http://schemas.openxmlformats.org/officeDocument/2006/relationships/slide" Target="/ppt/slides/slide15.xml" Id="R63c03a2aaa7d4dae" /><Relationship Type="http://schemas.openxmlformats.org/officeDocument/2006/relationships/slide" Target="/ppt/slides/slide16.xml" Id="R063fadd3263a4c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dd5be533b647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8d26e2af56486b" /><Relationship Type="http://schemas.openxmlformats.org/officeDocument/2006/relationships/notesMaster" Target="/ppt/notesMasters/notesMaster1.xml" Id="Rc703b1a0397149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18e059c3174392" /><Relationship Type="http://schemas.openxmlformats.org/officeDocument/2006/relationships/notesMaster" Target="/ppt/notesMasters/notesMaster1.xml" Id="Rb57051f00ac447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ac1b7b5ea64d91" /><Relationship Type="http://schemas.openxmlformats.org/officeDocument/2006/relationships/notesMaster" Target="/ppt/notesMasters/notesMaster1.xml" Id="R8b032bfc774445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f79744e72b421b" /><Relationship Type="http://schemas.openxmlformats.org/officeDocument/2006/relationships/notesMaster" Target="/ppt/notesMasters/notesMaster1.xml" Id="R9ebe5d29f14f4f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f651e74f8c4911" /><Relationship Type="http://schemas.openxmlformats.org/officeDocument/2006/relationships/notesMaster" Target="/ppt/notesMasters/notesMaster1.xml" Id="R5491e5dd186046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f80ca9ad794fc3" /><Relationship Type="http://schemas.openxmlformats.org/officeDocument/2006/relationships/notesMaster" Target="/ppt/notesMasters/notesMaster1.xml" Id="R742a48dbd88247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17145833244494" /><Relationship Type="http://schemas.openxmlformats.org/officeDocument/2006/relationships/notesMaster" Target="/ppt/notesMasters/notesMaster1.xml" Id="Rbd64349ae74449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7596d4d69f42cb" /><Relationship Type="http://schemas.openxmlformats.org/officeDocument/2006/relationships/notesMaster" Target="/ppt/notesMasters/notesMaster1.xml" Id="R4c93aa267d794e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bad40eb8f64358" /><Relationship Type="http://schemas.openxmlformats.org/officeDocument/2006/relationships/notesMaster" Target="/ppt/notesMasters/notesMaster1.xml" Id="Ra3d6fbe16b2c40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5ba4b4544444f1" /><Relationship Type="http://schemas.openxmlformats.org/officeDocument/2006/relationships/notesMaster" Target="/ppt/notesMasters/notesMaster1.xml" Id="R4b8020767e4a4e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59ec5a85194d02" /><Relationship Type="http://schemas.openxmlformats.org/officeDocument/2006/relationships/notesMaster" Target="/ppt/notesMasters/notesMaster1.xml" Id="Raf9a63ede0be4d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f1cd5f0a8a4f32" /><Relationship Type="http://schemas.openxmlformats.org/officeDocument/2006/relationships/notesMaster" Target="/ppt/notesMasters/notesMaster1.xml" Id="Ree154b39bc4a49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bba53e875046b9" /><Relationship Type="http://schemas.openxmlformats.org/officeDocument/2006/relationships/notesMaster" Target="/ppt/notesMasters/notesMaster1.xml" Id="R193d55e1ee1841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8c162ed52c44e1" /><Relationship Type="http://schemas.openxmlformats.org/officeDocument/2006/relationships/notesMaster" Target="/ppt/notesMasters/notesMaster1.xml" Id="Rbfc7292a449e40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6aae6c277e42fd" /><Relationship Type="http://schemas.openxmlformats.org/officeDocument/2006/relationships/notesMaster" Target="/ppt/notesMasters/notesMaster1.xml" Id="R5f57699f8d6a4a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b39aed30e2b48cc" /><Relationship Type="http://schemas.openxmlformats.org/officeDocument/2006/relationships/notesMaster" Target="/ppt/notesMasters/notesMaster1.xml" Id="Rcfca02549a1945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catalog sources: https://mpcb.gov.in/sites/default/files/whats_new/2025-11/MPCB%20Circular%20Economy%20Directory%202025%20R3_compressed.pdf ; https://tnpcb.gov.in/PDF/Waste_Mngt/HazardousWaste/SolventRecoveryIndustries.pdf ; https://www.wbpcb.gov.in/files/Fr-02-2025-02-39-23haz_inventory_2023_24.pdf . Retrieval date: 12 October 2026. 771 + 12 + 129 = 912 catalog records; this is a record count, not independently verified unique active buyers.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catalog sources: https://mpcb.gov.in/sites/default/files/whats_new/2025-11/MPCB%20Circular%20Economy%20Directory%202025%20R3_compressed.pdf ; https://tnpcb.gov.in/PDF/Waste_Mngt/HazardousWaste/SolventRecoveryIndustries.pdf ; https://www.wbpcb.gov.in/files/Fr-02-2025-02-39-23haz_inventory_2023_24.pdf . Retrieval date: 12 October 2026. 771 + 12 + 129 = 912 catalog records; this is a record count, not independently verified unique active buyers.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catalog sources: https://mpcb.gov.in/sites/default/files/whats_new/2025-11/MPCB%20Circular%20Economy%20Directory%202025%20R3_compressed.pdf ; https://tnpcb.gov.in/PDF/Waste_Mngt/HazardousWaste/SolventRecoveryIndustries.pdf ; https://www.wbpcb.gov.in/files/Fr-02-2025-02-39-23haz_inventory_2023_24.pdf . Retrieval date: 12 October 2026. 771 + 12 + 129 = 912 catalog records; this is a record count, not independently verified unique active buyers.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catalog sources: https://mpcb.gov.in/sites/default/files/whats_new/2025-11/MPCB%20Circular%20Economy%20Directory%202025%20R3_compressed.pdf ; https://tnpcb.gov.in/PDF/Waste_Mngt/HazardousWaste/SolventRecoveryIndustries.pdf ; https://www.wbpcb.gov.in/files/Fr-02-2025-02-39-23haz_inventory_2023_24.pdf . Retrieval date: 12 October 2026. 771 + 12 + 129 = 912 catalog records; this is a record count, not independently verified unique active buyers.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catalog sources: https://mpcb.gov.in/sites/default/files/whats_new/2025-11/MPCB%20Circular%20Economy%20Directory%202025%20R3_compressed.pdf ; https://tnpcb.gov.in/PDF/Waste_Mngt/HazardousWaste/SolventRecoveryIndustries.pdf ; https://www.wbpcb.gov.in/files/Fr-02-2025-02-39-23haz_inventory_2023_24.pdf . Retrieval date: 12 October 2026. 771 + 12 + 129 = 912 catalog records; this is a record count, not independently verified unique active buyers.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Public catalog sources: https://mpcb.gov.in/sites/default/files/whats_new/2025-11/MPCB%20Circular%20Economy%20Directory%202025%20R3_compressed.pdf ; https://tnpcb.gov.in/PDF/Waste_Mngt/HazardousWaste/SolventRecoveryIndustries.pdf ; https://www.wbpcb.gov.in/files/Fr-02-2025-02-39-23haz_inventory_2023_24.pdf . Retrieval date: 12 October 2026. 771 + 12 + 129 = 912 catalog records; this is a record count, not independently verified unique active buyers.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Evidence: https://aibuildercup.com/ ; https://aibuildercup.com/themes.html ; https://github.com/anshuman542018/wasterecast (commit 253e0b0). Live prototype: https://wasterecast.web.app/ . Test date: 17 October 2026. Team and eligibility supplied by participants. Claims describe a prototype, not independently certified performance.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7091dda49e48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22778f048847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72e68ac0b488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222c0745245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e22b33037f409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059ee3e23a45a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bad73be23442c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5a45b7694b401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c97074c458468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f6a4a68561420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916c426ac1417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8675B08E-0303-4E65-9C07-EF7EF2C2D0D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B645626F-B235-4289-8970-0A750357DB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D75AB743-A938-460C-BA1C-1ADA6F2015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5C1C462-9B71-401F-8389-744BF2A9EA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5BDF4CEA-AAAF-42B0-9F75-862FA74763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B838621D-9DE2-4316-9A7D-0D1099B39B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C9B52D2B-6508-4FB3-BA86-50096BC06E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0C722CE0-F365-4752-ACB6-C6A9A8F1C2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8FF451B1-3D3A-41A5-A062-1807B55A9E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6BD51A54-31BB-41A7-B052-0AEC59EF51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7C91530-DC0D-48E9-AA2F-3671FB5B5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EBAD8D4-BAA1-4BB4-858B-5D6044D55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47D790C4-1A92-42F3-A8F9-32AF964407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BCA5817-A466-4A62-81E9-81EE548003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38A8AFA4-4287-4A6B-8A7E-68F3FD7DB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7A63F29F-A17F-4181-9567-B79940393A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C4533E5C-2DE8-4EF7-983E-92C5E36C5C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4B453FCC-EE40-4FDD-B448-5D4D2EB560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662618F4-29A7-4FE3-B062-88578F2ABF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CEA5154B-F017-4452-8665-2D6A9362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95670F5E-B80F-47C8-8B59-8F53AE5CB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72A49AD1-A156-43D3-AA72-A1B7CF0112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744F85-A784-4F75-951D-70A04A829A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7BB68212-3FA9-4A77-B8AA-1E397829FD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2C2255EC-1AF8-40C9-B85D-FB6C02577A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719ED0FA-C3CC-47B4-BEF8-9DF5900C33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333EC66F-1CCE-4304-864A-D7E57F84909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263684FF-8AF9-4B3E-A500-3EE363333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169752EF-BDF9-40C2-9049-26C1DB9C24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C869F42B-9A5B-47E5-A832-58ECA24689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0ab1e72693411a" /><Relationship Type="http://schemas.openxmlformats.org/officeDocument/2006/relationships/slideLayout" Target="/ppt/slideLayouts/slideLayout1.xml" Id="R61bf6eee80414ce4" /><Relationship Type="http://schemas.openxmlformats.org/officeDocument/2006/relationships/slideLayout" Target="/ppt/slideLayouts/slideLayout2.xml" Id="Re88109c41b484b7e" /><Relationship Type="http://schemas.openxmlformats.org/officeDocument/2006/relationships/slideLayout" Target="/ppt/slideLayouts/slideLayout3.xml" Id="R45d54efa66a24cff" /><Relationship Type="http://schemas.openxmlformats.org/officeDocument/2006/relationships/slideLayout" Target="/ppt/slideLayouts/slideLayout4.xml" Id="Re01b9e0c04434553" /><Relationship Type="http://schemas.openxmlformats.org/officeDocument/2006/relationships/slideLayout" Target="/ppt/slideLayouts/slideLayout5.xml" Id="R2ebef6faf8324b38" /><Relationship Type="http://schemas.openxmlformats.org/officeDocument/2006/relationships/slideLayout" Target="/ppt/slideLayouts/slideLayout6.xml" Id="R3766871df9354c95" /><Relationship Type="http://schemas.openxmlformats.org/officeDocument/2006/relationships/slideLayout" Target="/ppt/slideLayouts/slideLayout7.xml" Id="R72c0bae1589f494a" /><Relationship Type="http://schemas.openxmlformats.org/officeDocument/2006/relationships/slideLayout" Target="/ppt/slideLayouts/slideLayout8.xml" Id="R13a864e668c14501" /><Relationship Type="http://schemas.openxmlformats.org/officeDocument/2006/relationships/slideLayout" Target="/ppt/slideLayouts/slideLayout9.xml" Id="R0f2f0507f88941fd" /><Relationship Type="http://schemas.openxmlformats.org/officeDocument/2006/relationships/slideLayout" Target="/ppt/slideLayouts/slideLayout10.xml" Id="Ra11e40cf74244135" /><Relationship Type="http://schemas.openxmlformats.org/officeDocument/2006/relationships/slideLayout" Target="/ppt/slideLayouts/slideLayout11.xml" Id="Rf48d894793954f8d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775D2287-ED60-413C-819B-A878E96764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E6295C30-46F8-4C2F-9FEE-CE9232AAD6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105EC0F-91CB-4A8A-ABD7-AC9ECC68DE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bf6eee80414ce4"/>
    <p:sldLayoutId xmlns:r="http://schemas.openxmlformats.org/officeDocument/2006/relationships" id="2147483650" r:id="Re88109c41b484b7e"/>
    <p:sldLayoutId xmlns:r="http://schemas.openxmlformats.org/officeDocument/2006/relationships" id="2147483651" r:id="R45d54efa66a24cff"/>
    <p:sldLayoutId xmlns:r="http://schemas.openxmlformats.org/officeDocument/2006/relationships" id="2147483652" r:id="Re01b9e0c04434553"/>
    <p:sldLayoutId xmlns:r="http://schemas.openxmlformats.org/officeDocument/2006/relationships" id="2147483653" r:id="R2ebef6faf8324b38"/>
    <p:sldLayoutId xmlns:r="http://schemas.openxmlformats.org/officeDocument/2006/relationships" id="2147483654" r:id="R3766871df9354c95"/>
    <p:sldLayoutId xmlns:r="http://schemas.openxmlformats.org/officeDocument/2006/relationships" id="2147483655" r:id="R72c0bae1589f494a"/>
    <p:sldLayoutId xmlns:r="http://schemas.openxmlformats.org/officeDocument/2006/relationships" id="2147483656" r:id="R13a864e668c14501"/>
    <p:sldLayoutId xmlns:r="http://schemas.openxmlformats.org/officeDocument/2006/relationships" id="2147483657" r:id="R0f2f0507f88941fd"/>
    <p:sldLayoutId xmlns:r="http://schemas.openxmlformats.org/officeDocument/2006/relationships" id="2147483658" r:id="Ra11e40cf74244135"/>
    <p:sldLayoutId xmlns:r="http://schemas.openxmlformats.org/officeDocument/2006/relationships" id="2147483659" r:id="Rf48d894793954f8d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7da67d2934f49" /><Relationship Type="http://schemas.openxmlformats.org/officeDocument/2006/relationships/image" Target="/ppt/media/image.png" Id="Recfbb7e16fbd4e1d" /><Relationship Type="http://schemas.openxmlformats.org/officeDocument/2006/relationships/image" Target="/ppt/media/image2.png" Id="R74a0bf8d74e7469a" /><Relationship Type="http://schemas.openxmlformats.org/officeDocument/2006/relationships/notesSlide" Target="/ppt/notesSlides/notesSlide1.xml" Id="R28c112045b0a47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b4edb7ed2480b" /><Relationship Type="http://schemas.openxmlformats.org/officeDocument/2006/relationships/image" Target="/ppt/media/image2.png" Id="R654de390e2444e95" /><Relationship Type="http://schemas.openxmlformats.org/officeDocument/2006/relationships/image" Target="/ppt/media/image.jpeg" Id="R299f2b58ebb7483a" /><Relationship Type="http://schemas.openxmlformats.org/officeDocument/2006/relationships/notesSlide" Target="/ppt/notesSlides/notesSlide2.xml" Id="R1d2ff94f3d754c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aa49e73d74d8c" /><Relationship Type="http://schemas.openxmlformats.org/officeDocument/2006/relationships/image" Target="/ppt/media/image3.png" Id="R5bab953389ba4652" /><Relationship Type="http://schemas.openxmlformats.org/officeDocument/2006/relationships/notesSlide" Target="/ppt/notesSlides/notesSlide3.xml" Id="R3625d673ef714d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7fc59f08646db" /><Relationship Type="http://schemas.openxmlformats.org/officeDocument/2006/relationships/image" Target="/ppt/media/image2.png" Id="Rc719a884e2f5433c" /><Relationship Type="http://schemas.openxmlformats.org/officeDocument/2006/relationships/image" Target="/ppt/media/image3.png" Id="Rdf8b9b4ed0af4ad4" /><Relationship Type="http://schemas.openxmlformats.org/officeDocument/2006/relationships/notesSlide" Target="/ppt/notesSlides/notesSlide4.xml" Id="Re108f76cdda447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7475aee124e76" /><Relationship Type="http://schemas.openxmlformats.org/officeDocument/2006/relationships/image" Target="/ppt/media/image2.png" Id="R8631bb01a046421f" /><Relationship Type="http://schemas.openxmlformats.org/officeDocument/2006/relationships/image" Target="/ppt/media/image3.png" Id="Rce7534b1ae124800" /><Relationship Type="http://schemas.openxmlformats.org/officeDocument/2006/relationships/notesSlide" Target="/ppt/notesSlides/notesSlide5.xml" Id="Ra192b60eadd44f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d81ec5b1a41df" /><Relationship Type="http://schemas.openxmlformats.org/officeDocument/2006/relationships/image" Target="/ppt/media/image2.png" Id="R8dd2bc7a9f814589" /><Relationship Type="http://schemas.openxmlformats.org/officeDocument/2006/relationships/image" Target="/ppt/media/image3.png" Id="R3477a941ff304119" /><Relationship Type="http://schemas.openxmlformats.org/officeDocument/2006/relationships/notesSlide" Target="/ppt/notesSlides/notesSlide6.xml" Id="Re7294d9b9e9c44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cc5daf8e942fc" /><Relationship Type="http://schemas.openxmlformats.org/officeDocument/2006/relationships/image" Target="/ppt/media/image2.png" Id="Re6e407f0b38b4c41" /><Relationship Type="http://schemas.openxmlformats.org/officeDocument/2006/relationships/image" Target="/ppt/media/image3.png" Id="R1d8fecc89da448ed" /><Relationship Type="http://schemas.openxmlformats.org/officeDocument/2006/relationships/image" Target="/ppt/media/image2.jpeg" Id="Rd2ae776b6ff34a9f" /><Relationship Type="http://schemas.openxmlformats.org/officeDocument/2006/relationships/notesSlide" Target="/ppt/notesSlides/notesSlide7.xml" Id="R198b790ab89842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7ae005f32457b" /><Relationship Type="http://schemas.openxmlformats.org/officeDocument/2006/relationships/image" Target="/ppt/media/image2.png" Id="R37417b3020db477c" /><Relationship Type="http://schemas.openxmlformats.org/officeDocument/2006/relationships/image" Target="/ppt/media/image3.png" Id="R015556ec906f4037" /><Relationship Type="http://schemas.openxmlformats.org/officeDocument/2006/relationships/notesSlide" Target="/ppt/notesSlides/notesSlide8.xml" Id="Rfd0d84ff5c7845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d4ed904b74626" /><Relationship Type="http://schemas.openxmlformats.org/officeDocument/2006/relationships/image" Target="/ppt/media/image2.png" Id="R518ce1bb557d4d6c" /><Relationship Type="http://schemas.openxmlformats.org/officeDocument/2006/relationships/image" Target="/ppt/media/image3.png" Id="R2f8fefeec9ae4224" /><Relationship Type="http://schemas.openxmlformats.org/officeDocument/2006/relationships/notesSlide" Target="/ppt/notesSlides/notesSlide9.xml" Id="Rd089413c8b9942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a9ac519014a56" /><Relationship Type="http://schemas.openxmlformats.org/officeDocument/2006/relationships/image" Target="/ppt/media/image2.png" Id="Rbc0bd2cec6b04886" /><Relationship Type="http://schemas.openxmlformats.org/officeDocument/2006/relationships/image" Target="/ppt/media/image3.png" Id="R92abd6daa9f04b58" /><Relationship Type="http://schemas.openxmlformats.org/officeDocument/2006/relationships/notesSlide" Target="/ppt/notesSlides/notesSlide10.xml" Id="R3c78b5a78b3f4b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20a72d5c84491" /><Relationship Type="http://schemas.openxmlformats.org/officeDocument/2006/relationships/image" Target="/ppt/media/image2.png" Id="R301dfc8c5f07457b" /><Relationship Type="http://schemas.openxmlformats.org/officeDocument/2006/relationships/image" Target="/ppt/media/image3.png" Id="Re8dea8a9a4cb4cc7" /><Relationship Type="http://schemas.openxmlformats.org/officeDocument/2006/relationships/image" Target="/ppt/media/image3.jpeg" Id="R646254b949054e04" /><Relationship Type="http://schemas.openxmlformats.org/officeDocument/2006/relationships/notesSlide" Target="/ppt/notesSlides/notesSlide11.xml" Id="R22858f18881a45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b67e5203f45e1" /><Relationship Type="http://schemas.openxmlformats.org/officeDocument/2006/relationships/image" Target="/ppt/media/image2.png" Id="R11f2b4d0a13a42f2" /><Relationship Type="http://schemas.openxmlformats.org/officeDocument/2006/relationships/image" Target="/ppt/media/image3.png" Id="R7be472fc5caa4f03" /><Relationship Type="http://schemas.openxmlformats.org/officeDocument/2006/relationships/notesSlide" Target="/ppt/notesSlides/notesSlide12.xml" Id="R93b596d1e1184d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781c340304c0a" /><Relationship Type="http://schemas.openxmlformats.org/officeDocument/2006/relationships/image" Target="/ppt/media/image2.png" Id="R6f0ebb0a953d4661" /><Relationship Type="http://schemas.openxmlformats.org/officeDocument/2006/relationships/image" Target="/ppt/media/image3.png" Id="Rfeaf112bb73545da" /><Relationship Type="http://schemas.openxmlformats.org/officeDocument/2006/relationships/notesSlide" Target="/ppt/notesSlides/notesSlide13.xml" Id="Rd3730797dfb645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0fa0493ab490e" /><Relationship Type="http://schemas.openxmlformats.org/officeDocument/2006/relationships/image" Target="/ppt/media/image2.png" Id="R0211aeafa44145b8" /><Relationship Type="http://schemas.openxmlformats.org/officeDocument/2006/relationships/image" Target="/ppt/media/image3.png" Id="R28fc1c172e0d4c4d" /><Relationship Type="http://schemas.openxmlformats.org/officeDocument/2006/relationships/hyperlink" Target="https://wasterecast.web.app/" TargetMode="External" Id="R8f0f67ef9ac44722" /><Relationship Type="http://schemas.openxmlformats.org/officeDocument/2006/relationships/hyperlink" Target="https://github.com/anshuman542018/wasterecast" TargetMode="External" Id="R90188f02041d4fb4" /><Relationship Type="http://schemas.openxmlformats.org/officeDocument/2006/relationships/hyperlink" Target="https://drive.google.com/file/d/1e1EyM-4qKs6WXAbR9nq35Z9UsCGghN5u/view" TargetMode="External" Id="Rfd677ce2a0064717" /><Relationship Type="http://schemas.openxmlformats.org/officeDocument/2006/relationships/notesSlide" Target="/ppt/notesSlides/notesSlide14.xml" Id="R3ba7662e73c640d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8d34cccd44309" /><Relationship Type="http://schemas.openxmlformats.org/officeDocument/2006/relationships/image" Target="/ppt/media/image2.png" Id="R290c7dc9df67431f" /><Relationship Type="http://schemas.openxmlformats.org/officeDocument/2006/relationships/image" Target="/ppt/media/image3.png" Id="R9165d90099d84448" /><Relationship Type="http://schemas.openxmlformats.org/officeDocument/2006/relationships/notesSlide" Target="/ppt/notesSlides/notesSlide15.xml" Id="R85155d97c3e94a8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42a2faec24a52" /><Relationship Type="http://schemas.openxmlformats.org/officeDocument/2006/relationships/image" Target="/ppt/media/image2.png" Id="R4416fd02d8eb4feb" /><Relationship Type="http://schemas.openxmlformats.org/officeDocument/2006/relationships/image" Target="/ppt/media/image4.png" Id="R9834ea6ffeb7433c" /><Relationship Type="http://schemas.openxmlformats.org/officeDocument/2006/relationships/notesSlide" Target="/ppt/notesSlides/notesSlide16.xml" Id="R57c6622f878747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62DDA1E6-4529-4FE3-A7AD-E230EAAB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00" y="2902694"/>
            <a:ext cx="8760000" cy="200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  <a:buNone/>
            </a:pPr>
            <a:r>
              <a: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  <a:buNone/>
            </a:pPr>
            <a:r>
              <a: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Team name: Clorex  |  Product: WasteRecast</a:t>
            </a:r>
            <a:endParaRPr sz="1800"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1" indent="0" algn="l">
              <a:spcBef>
                <a:spcPts val="0"/>
              </a:spcBef>
              <a:spcAft>
                <a:spcPts val="0"/>
              </a:spcAft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  <a:buNone/>
            </a:pPr>
            <a:r>
              <a: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Team leader: Zuhaib Ahmed</a:t>
            </a:r>
            <a:endParaRPr sz="1800"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1" indent="0" algn="l">
              <a:spcBef>
                <a:spcPts val="0"/>
              </a:spcBef>
              <a:spcAft>
                <a:spcPts val="0"/>
              </a:spcAft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  <a:buNone/>
            </a:pPr>
            <a:r>
              <a: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Members: Anshuman Pandey · Aliyan Ahmed</a:t>
            </a:r>
            <a:endParaRPr sz="1800"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1" indent="0" algn="l">
              <a:spcBef>
                <a:spcPts val="0"/>
              </a:spcBef>
              <a:spcAft>
                <a:spcPts val="0"/>
              </a:spcAft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  <a:buNone/>
            </a:pPr>
            <a:r>
              <a: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Problem statement: Sustainability &amp; Social Impact</a:t>
            </a:r>
            <a:endParaRPr sz="1800"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def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  <a:buNone/>
            </a:pPr>
            <a:r>
              <a:rPr sz="1725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AI-assisted waste recovery and reuse discovery</a:t>
            </a:r>
            <a:endParaRPr sz="18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25D81DB6-4980-4B5F-A492-D6244DC8AA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bb7e16fbd4e1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8DAA1624-EAF1-4E76-890F-DFD36B737F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a0bf8d74e7469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3408298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B57A5F17-28BF-405F-8338-9621BD5A0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4de390e2444e9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0E3C7139-424B-4DC1-A494-ED82FB9D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12EBBF19-8302-4E82-8EC0-33BA95C4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476375"/>
            <a:ext cx="3524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WasteRecast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Turn a waste description into recovery leads, source evidence and a clear next step.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Built by Clorex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09DCD6D1-F2EA-4264-96B9-12DAA09166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f2b58ebb7483a">
            <a:alphaModFix/>
          </a:blip>
          <a:stretch xmlns:a="http://schemas.openxmlformats.org/drawingml/2006/main"/>
        </p:blipFill>
        <p:spPr>
          <a:xfrm xmlns:a="http://schemas.openxmlformats.org/drawingml/2006/main">
            <a:off x="333375" y="1288077"/>
            <a:ext cx="4476750" cy="25197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464935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DF8A2604-EC2A-4537-9C2A-3B9FF661DD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ab953389ba465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607A0C10-733A-4E4F-A16A-AD6006F3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316FA616-A37D-4299-A05F-FA6327F2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E2609D1-07C0-4591-A5AE-784F816C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62075"/>
            <a:ext cx="847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1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Waste is a potential input. Finding a usable route takes evidence.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FA6CB1F-74E9-4E91-A0E1-EF6D6FC8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2098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THE BUSINESS PROBLEM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0496D4F-D845-44C3-9DD5-12C0B8AD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57175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generator knows its waste, but not which facility can accept its exact composition, quantity and condition.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E3BD7B5-46F1-4D39-92C9-64E04BBB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OUR WORKING SOLUTION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6F0934D-2B75-4B60-AB02-BB3DCC8B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extracts the material profile. WasteRecast screens public records, explains gaps and prepares an acceptance enquiry.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0EAEC8C-A1C1-41D5-A795-94067AEE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Theme: Sustainability &amp; Social Impact — resource efficiency and informed decisions. No completed recovery or emissions savings claimed.</a:t>
            </a:r>
          </a:p>
        </p:txBody>
      </p:sp>
    </p:spTree>
    <p:extLst>
      <p:ext uri="{BB962C8B-B14F-4D97-AF65-F5344CB8AC3E}">
        <p14:creationId xmlns:p14="http://schemas.microsoft.com/office/powerpoint/2010/main" val="15922879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195FE7F9-BE29-4638-AA13-5A54C2A63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19a884e2f5433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F95528AB-0F7D-46AB-9B30-48CB8A6000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b9b4ed0af4ad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B1DC018F-2D9B-4043-8215-EF926284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81FA955A-3F42-4A61-BF21-71233B27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B44E214-089C-41AD-B1CE-D99848A4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81125"/>
            <a:ext cx="833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How is this different?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5526CA1-E97D-4A7A-B30B-64AA2643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85925"/>
            <a:ext cx="83343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Evidence stays beside each lead. Missing specifications and unconfirmed acceptance stay visible.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9D7644D-A6BC-4E91-8ADF-F3999E0F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400300"/>
            <a:ext cx="833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How will it solve the problem?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C4FAC98-C8E4-40B0-B0DE-3AFA3B36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705100"/>
            <a:ext cx="83343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Move from an unstructured description to a short, source-linked enquiry that a recycler can actually evaluate.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D6F253B-EAF3-4605-B631-A1E9EE4E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419475"/>
            <a:ext cx="833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Our proposed USP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5882E6C-056F-4E3B-8744-AE65DE36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724275"/>
            <a:ext cx="83343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Recast combines conversational app control with a material-specific verification workflow—not a promise of a confirmed buyer.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0798051-DCAF-498F-891C-8979B899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Marketplaces and reuse exchanges already exist. Our differentiation is the workflow; uniqueness and commercial impact still need pilot validation.</a:t>
            </a:r>
          </a:p>
        </p:txBody>
      </p:sp>
    </p:spTree>
    <p:extLst>
      <p:ext uri="{BB962C8B-B14F-4D97-AF65-F5344CB8AC3E}">
        <p14:creationId xmlns:p14="http://schemas.microsoft.com/office/powerpoint/2010/main" val="175436787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34BE45B2-5621-4AD7-84FE-BB6721FE8F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31bb01a046421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98F37934-3154-476F-B163-93CA07A5FE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534b1ae12480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28C5D3CB-9542-4CAF-9FF4-0C34BABB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8A7792E8-2ADC-40F8-A6DD-155E6BA4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B775E31-5CE3-487F-B80B-C47EBC7A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5255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01 / MATERIAL PROFILE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4A00756-7FC9-4D85-8DBD-7EB35BDC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71450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Text, optional PDF or image → structured Gemini profile, quoted evidence and missing facts. 16 material families.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1187DD0-CDA1-4C0B-AF57-CE240793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5255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02 / CLEAR RECOVERY LEADS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6A5A88-B463-47A9-8480-42951047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912 source-attributed India board records; worldwide open-map discovery. Five visible leads at a time.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BDFC1E1-C5D3-4023-8A8C-008FC517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0480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03 / VERIFIABLE NEXT STEPS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E40DD9B-C738-4C42-9FA0-332D3686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40995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Source documents, published contacts where available, saved leads, four confirmation checks and enquiry export.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C3E2BAC-2BFE-48E6-8BA0-7C9006E0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480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04 / ACCESSIBLE INTERACTION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7652ABA-CE78-415F-9CAF-5ECE2435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0995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Recast Live assistant with validated app tools; English, Hindi, Marathi and Spanish controls; light/dark themes.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A6C0F35-91D2-44BC-92D7-2F15D5A5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Public records are discovery evidence, not verified demand. Worldwide map coverage is best effort. Some diagnostics remain in English.</a:t>
            </a:r>
          </a:p>
        </p:txBody>
      </p:sp>
    </p:spTree>
    <p:extLst>
      <p:ext uri="{BB962C8B-B14F-4D97-AF65-F5344CB8AC3E}">
        <p14:creationId xmlns:p14="http://schemas.microsoft.com/office/powerpoint/2010/main" val="82175873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BF59FA84-D3F0-4BEF-B030-66F83FFED1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d2bc7a9f81458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4B459E60-EFDC-4230-9B90-FC96630993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7a941ff30411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36FDCE84-78F4-43B0-A551-39E412A0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EEDE0DC3-3236-4CCB-B2BE-CBC3DC00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5804315-08FE-4970-AF84-FE3272A4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466850"/>
            <a:ext cx="1981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4BAEAAA-6B09-4AB6-A06E-8A5DB8F2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1714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  Describe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Material + city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Optional document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C899FA2-78C5-4F0E-B854-3CAC7819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14550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noFill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9F7780C-502C-40E7-AF2E-DD9BC244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466850"/>
            <a:ext cx="1981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8D86A8F-5879-4268-86E5-B3E24AC8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600200"/>
            <a:ext cx="1714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2  Extract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profile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Unknown facts retained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3AB6182-9F7A-4472-8D87-A0880DB3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114550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noFill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DF7A4CF-57D7-4388-9190-5937400D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466850"/>
            <a:ext cx="1981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27CCD77-6240-412F-A703-C8B8B6DF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600200"/>
            <a:ext cx="1714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3 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Family + route checks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State/district order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81F40B2-3A63-4737-B10C-39EE0C8E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114550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noFill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CCFE00D-C99F-4C79-80B5-1487468C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466850"/>
            <a:ext cx="1981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275EC6E-78B3-431C-AC1A-8B7CC7A2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600200"/>
            <a:ext cx="1714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4 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fit notes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Source-linked gaps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31D1C55-0760-41A6-9B35-C4734578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362325"/>
            <a:ext cx="85725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0">
            <a:noFill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47F8644-B7A8-417C-89D9-D88CBE1F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95675"/>
            <a:ext cx="8305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5  Verify and enquire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Composition → current authorization → buyer acceptance/capacity → written quote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598D102-058E-4D54-949D-A7AC18B9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AI interprets and explains; deterministic checks and calculations remain inspectable. A human confirms acceptance before any movement.</a:t>
            </a:r>
          </a:p>
        </p:txBody>
      </p:sp>
    </p:spTree>
    <p:extLst>
      <p:ext uri="{BB962C8B-B14F-4D97-AF65-F5344CB8AC3E}">
        <p14:creationId xmlns:p14="http://schemas.microsoft.com/office/powerpoint/2010/main" val="132852382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CAD9A716-A4B4-449B-89F6-A22513FD06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e407f0b38b4c4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F9BDC404-B8D5-4882-9F26-36B2FC3E83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fecc89da448e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02C3C058-85FB-47F0-8610-FFA06EB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7EA5C023-5C40-4F37-8DB0-10CFF81E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9634C02-23C9-495C-AA74-392E61A0E4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ae776b6ff34a9f"/>
          <a:stretch xmlns:a="http://schemas.openxmlformats.org/drawingml/2006/main"/>
        </p:blipFill>
        <p:spPr>
          <a:xfrm xmlns:a="http://schemas.openxmlformats.org/drawingml/2006/main">
            <a:off x="285750" y="1353397"/>
            <a:ext cx="5429250" cy="3055831"/>
          </a:xfrm>
          <a:prstGeom xmlns:a="http://schemas.openxmlformats.org/drawingml/2006/main" prst="rect">
            <a:avLst/>
          </a:prstGeom>
        </p:spPr>
      </p:pic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94EAF24-E2BB-461E-ADC5-D45D94ED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00175"/>
            <a:ext cx="2714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ACTUAL INTERFACE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686F4AF-27C1-472A-867B-E10DF8D3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09750"/>
            <a:ext cx="27146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1. Describe your material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2. Review the profile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3. Find recovery leads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51C44D2-EA6A-4E10-AD60-33FE0102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Actual prototype, not a wireframe. AI walkthrough captured using the private local connection; public site uses Firebase AI Logic.</a:t>
            </a:r>
          </a:p>
        </p:txBody>
      </p:sp>
    </p:spTree>
    <p:extLst>
      <p:ext uri="{BB962C8B-B14F-4D97-AF65-F5344CB8AC3E}">
        <p14:creationId xmlns:p14="http://schemas.microsoft.com/office/powerpoint/2010/main" val="2149096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7E851CE-EF57-433E-96E2-6BF036B37534}"/>
              </a:ext>
            </a:extLst>
          </p:cNvPr>
          <p:cNvCxnSpPr>
            <a:stCxn xmlns:a="http://schemas.openxmlformats.org/drawingml/2006/main" id="112" idx="2"/>
            <a:endCxn xmlns:a="http://schemas.openxmlformats.org/drawingml/2006/main" id="118" idx="0"/>
          </p:cNvCxnSpPr>
          <p:nvPr/>
        </p:nvCxnSpPr>
        <p:spPr>
          <a:xfrm xmlns:a="http://schemas.openxmlformats.org/drawingml/2006/main">
            <a:off x="4572000" y="2171700"/>
            <a:ext cx="2952750" cy="638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85F4"/>
            </a:solidFill>
            <a:headEnd type="triangle" w="sm" len="sm"/>
            <a:tailEnd type="triangle" w="sm" len="sm"/>
          </a:ln>
        </p:spPr>
      </p:cxnSp>
      <p:cxnSp>
        <p:nvCxn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2F1A524-9ABB-48A8-9F00-374230E10F22}"/>
              </a:ext>
            </a:extLst>
          </p:cNvPr>
          <p:cNvCxnSpPr>
            <a:stCxn xmlns:a="http://schemas.openxmlformats.org/drawingml/2006/main" id="112" idx="2"/>
            <a:endCxn xmlns:a="http://schemas.openxmlformats.org/drawingml/2006/main" id="116" idx="0"/>
          </p:cNvCxnSpPr>
          <p:nvPr/>
        </p:nvCxnSpPr>
        <p:spPr>
          <a:xfrm xmlns:a="http://schemas.openxmlformats.org/drawingml/2006/main">
            <a:off x="4572000" y="2171700"/>
            <a:ext cx="0" cy="638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85F4"/>
            </a:solidFill>
            <a:headEnd type="triangle" w="sm" len="sm"/>
            <a:tailEnd type="triangle" w="sm" len="sm"/>
          </a:ln>
        </p:spPr>
      </p:cxnSp>
      <p:cxnSp>
        <p:nvCxn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DC31ACA-28CD-4BEE-A25C-97D79B5A76CC}"/>
              </a:ext>
            </a:extLst>
          </p:cNvPr>
          <p:cNvCxnSpPr>
            <a:stCxn xmlns:a="http://schemas.openxmlformats.org/drawingml/2006/main" id="112" idx="2"/>
            <a:endCxn xmlns:a="http://schemas.openxmlformats.org/drawingml/2006/main" id="114" idx="0"/>
          </p:cNvCxnSpPr>
          <p:nvPr/>
        </p:nvCxnSpPr>
        <p:spPr>
          <a:xfrm xmlns:a="http://schemas.openxmlformats.org/drawingml/2006/main" flipH="1">
            <a:off x="1619250" y="2171700"/>
            <a:ext cx="2952750" cy="638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85F4"/>
            </a:solidFill>
            <a:headEnd type="triangle" w="sm" len="sm"/>
            <a:tailEnd type="triangle" w="sm" len="sm"/>
          </a:ln>
        </p:spPr>
      </p:cxnSp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B82860EB-3C7B-4B98-B6FD-746C9A7A8F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417b3020db477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C1C09BC9-E278-43C2-806D-A524F8F949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556ec906f403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80B292F2-A369-411D-AEA7-0C260305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C62AD285-EC74-4C36-9DE0-2611F1D7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C9F60F7-AB24-499F-ACAD-F4619E3A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33500"/>
            <a:ext cx="342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8665FE3-55F4-4CD3-B1EA-4C4C0A8D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3162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User browser / Firebase Hosting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Static app + validated app tools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80E29E1-1578-42C1-93D7-B8734DD3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809875"/>
            <a:ext cx="266700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710BE82-BC87-48AE-AFBD-B7A5EA18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43225"/>
            <a:ext cx="24003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Firestore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Read-only catalog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912 source-linked records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83E3D94-9C3F-4798-BBBD-0F85ACF0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9875"/>
            <a:ext cx="266700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0">
            <a:noFill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053B128-D80F-4B29-BA60-5CA86EA3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24003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Firebase AI Logic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App Check → Gemini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Profiles + fit review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FC8F88B-19C1-49DC-8496-CC09132A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9875"/>
            <a:ext cx="266700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7E0"/>
          </a:solidFill>
          <a:ln xmlns:a="http://schemas.openxmlformats.org/drawingml/2006/main" w="0">
            <a:noFill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77CACEE-70C0-4912-ABB8-7E693A23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43225"/>
            <a:ext cx="24003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Vercel token service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Attestation → Live token</a:t>
            </a:r>
          </a:p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Live connection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0A820E7-BE9A-4B47-AF9D-D3C1DFF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1719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Catalog imports: public board PDFs. Worldwide discovery: browser → open geocoding/maps.</a:t>
            </a:r>
          </a:p>
          <a:p xmlns:a="http://schemas.openxmlformats.org/drawingml/2006/main">
            <a:pPr>
              <a:defRPr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Live audio: browser → Gemini directly after the token is issued.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9C8755D-8E65-4DFF-B2F6-ED2FFBE2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Live deployment uses Firebase, not Cloud Run. Optional Cloud Run backend is a future path. Free quotas and third-party uptime apply.</a:t>
            </a:r>
          </a:p>
        </p:txBody>
      </p:sp>
    </p:spTree>
    <p:extLst>
      <p:ext uri="{BB962C8B-B14F-4D97-AF65-F5344CB8AC3E}">
        <p14:creationId xmlns:p14="http://schemas.microsoft.com/office/powerpoint/2010/main" val="15472295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243F18F5-1C79-43D4-B5C5-E4EB2E4CB9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8ce1bb557d4d6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4FB582C7-F148-469E-ABEE-00B40F0912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fefeec9ae422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CAB99D1C-734B-4117-9DDF-C878FD49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7A2DD859-985C-4A37-A5A3-6CE41641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FF40FD3-7F8B-4AF8-9764-D30A858F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52550"/>
            <a:ext cx="2400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475401D-9380-489C-AC63-89C14168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352550"/>
            <a:ext cx="600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Public HTTPS web app on Spark. Static delivery with a sourced catalog fallback.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5A26652-BC8E-42FC-988E-213B02A2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981200"/>
            <a:ext cx="2400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Cloud Firestore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9DA4255-576B-4968-8DC2-2B31481C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981200"/>
            <a:ext cx="600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912 public records in 23 read-only chunks; client writes denied.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BDBC29E-C6C8-40B5-99B9-2A43B7BB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609850"/>
            <a:ext cx="2400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Gemini + Firebase AI Logic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7DA0198-ECDA-4A62-9CA4-75167469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609850"/>
            <a:ext cx="600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Structured extraction, evidence-aware fit review and conversational reasoning. App Check enforced.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07A0807-B086-4DA2-A0FD-C1FC3E24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238500"/>
            <a:ext cx="2400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Gemini Live + Vercel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69171B5-09DE-4E5D-87F6-D628205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238500"/>
            <a:ext cx="600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Aoede speech and validated tool calls. Private key issues short-lived, one-use tokens.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A9D3872-237A-4061-AEC9-BF89BCAB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67150"/>
            <a:ext cx="2400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Supporting stack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385B03C-23CC-4E17-A2DA-E7CFDBAF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67150"/>
            <a:ext cx="600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Vite / JavaScript; official board PDFs; OpenStreetMap / Overpass; Open-Meteo geocoding.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2FA9B0E-BA80-437D-AB6F-B4A011BB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Cloud Run, Cloud SQL, BigQuery and Vertex AI are not deployed. Firebase is the permitted hosting option selected for this release.</a:t>
            </a:r>
          </a:p>
        </p:txBody>
      </p:sp>
    </p:spTree>
    <p:extLst>
      <p:ext uri="{BB962C8B-B14F-4D97-AF65-F5344CB8AC3E}">
        <p14:creationId xmlns:p14="http://schemas.microsoft.com/office/powerpoint/2010/main" val="79855871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361FBAAE-01AC-477A-BEFE-86FCA187E1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0bd2cec6b0488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623672F2-8CDA-4EA5-BCB1-D8AF2F4DCB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bd6daa9f04b5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B36AA875-E6BA-48A3-B4E7-DAC19FDE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85004BCF-2708-4963-8243-94563410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05AECFB-9ED8-4ADD-B485-0F78D905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81125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Current prototype: configured for free tiers.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7735117-81B1-4516-A6C1-749A3C0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1050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CURRENT SETUP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2892104-EEF5-4437-A2EE-343E88FA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4669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Firebase Spark + free Gemini quota + existing Vercel project. No Google Cloud billing account linked.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7633134-7ED3-4B7C-8D82-939774A1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SCALING APPROACH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2C4BF96-6C2A-4276-901E-B49AD53E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669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Static delivery; chunked reads; bounded AI calls, response cache and clear manual fallback when providers are unavailable.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5D113E5-6CA3-4B23-BB7D-C4B4BDFE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7147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Before a paid rollout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210F8EC-0748-4D63-A942-5B48F324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07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Measure requests, tokens, database reads and audio minutes. Add user authentication, shared quotas and monitoring before changing billing.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3743427-2969-4398-83EE-3CC4A8D1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No cost or unlimited-availability guarantee. A paid production estimate requires measured traffic and current provider pricing.</a:t>
            </a:r>
          </a:p>
        </p:txBody>
      </p:sp>
    </p:spTree>
    <p:extLst>
      <p:ext uri="{BB962C8B-B14F-4D97-AF65-F5344CB8AC3E}">
        <p14:creationId xmlns:p14="http://schemas.microsoft.com/office/powerpoint/2010/main" val="15803314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80470AA9-A77E-425F-B7A0-34DD4563EE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1dfc8c5f07457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F82A29AA-FE3A-4013-9765-67BC7268AE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ea8a9a4cb4cc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73C01377-25D9-4021-8150-429CCBD2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7AF9F728-8204-45EA-BC35-D79D2BE7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91DF801-EA79-49AD-955B-4374B79469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254b949054e04"/>
          <a:stretch xmlns:a="http://schemas.openxmlformats.org/drawingml/2006/main"/>
        </p:blipFill>
        <p:spPr>
          <a:xfrm xmlns:a="http://schemas.openxmlformats.org/drawingml/2006/main">
            <a:off x="285750" y="1410547"/>
            <a:ext cx="5429250" cy="3055831"/>
          </a:xfrm>
          <a:prstGeom xmlns:a="http://schemas.openxmlformats.org/drawingml/2006/main" prst="rect">
            <a:avLst/>
          </a:prstGeom>
        </p:spPr>
      </p:pic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1559A64-5685-480A-AD7E-1D3CD548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0970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LEADS → ACTION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9A8FFF9-3E3E-49FB-B8EA-39894C9A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09750"/>
            <a:ext cx="2667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Real source records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focused acceptance enquiry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invented buyer prices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911FE55-11CC-440C-BC15-CDAB1EB3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Illustrative polypropylene scenario + real public listings. Screenshots show the working local AI connection; hosted UI is the same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048558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F343725F-1CA9-4CE5-99A3-53DD9FFE24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2b4d0a13a42f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6B2831BC-5EFE-4513-A75D-D2017E6DA0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472fc5caa4f0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E389E44E-440C-49A1-B689-785E8AA9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03AA97D3-65E5-4485-9B63-C14608D9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E9CB6F1-CF02-49E8-99FC-90A1DC2D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716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39 / 39 TESTS PASS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1B865DA-0F80-4942-A6A8-DFA66795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73355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Automated regression tests cover screening, missing quotes, language keys, tool validation, microphone PCM and token controls.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5883046B-B357-446E-B712-7689534A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71600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GEMINI BACKEND / PASS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7F2C526-2161-4081-9391-FC70C518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33550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Live Firebase AI Logic request returned HTTP 200 and a structured polypropylene profile on 17 October 2026.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B1DC3A0-FD79-4B10-AA1D-807EDF35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0575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BROWSER WALKTHROUGH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E173386-6E74-4FD9-90F5-0FABE8B6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4194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Local AI profile, fit review and enquiry flow verified. Participant confirmed the public material profile works in Chrome/Edge.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C9C778D-CA1D-4853-82DE-E5D1E3EB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575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NOT YET BENCHMARKED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D25E704-DF28-4821-878B-05F997F4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independent extraction-accuracy study, load test, verified buyer conversion or measured environmental savings.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81160E0-D0BD-4D79-964C-60256B1D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Test counts describe automated checks, not AI accuracy. Codex’s in-app browser could not fetch public AI; Chrome/Edge check was participant-reported.</a:t>
            </a:r>
          </a:p>
        </p:txBody>
      </p:sp>
    </p:spTree>
    <p:extLst>
      <p:ext uri="{BB962C8B-B14F-4D97-AF65-F5344CB8AC3E}">
        <p14:creationId xmlns:p14="http://schemas.microsoft.com/office/powerpoint/2010/main" val="3524405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FAE41E79-B2F9-4C40-B4B4-626CFC4B6B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0ebb0a953d466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E5CE1D3-D734-4262-9D57-901A2ABC6F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f112bb73545d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45341359-444C-42F7-8D4E-4F72C8D3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8EB1F5CD-2BF1-49C3-AFE5-D9B0C47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CF4E2DA-1985-4241-A199-5706EA0E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811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NEXT / BUYER ACCEPTANCE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7934119C-ECDB-4A65-83D6-84885D7B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7430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Onboard consenting recyclers; collect actual accepted specifications, permits, capacity and written quotes.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2BF77B0-95F2-421E-9D06-F18AF6E3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811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PILOT / PROVE THE VALUE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3FA5F78-4B55-4BBA-864A-834250A1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430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Measure time to qualified enquiry, acceptance rate and verified recovered mass with real generator–recycler pairs.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002BB81-334A-456D-A52A-F4926532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0956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SCALE / OPERATE RELIABLY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7858E6A-7514-43C2-B551-22B722B8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4575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Authentication, shared durable quotas, monitoring, dated source refreshes and regional data partnerships.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37C9605-DA2D-478B-B720-D42A57BA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95625"/>
            <a:ext cx="409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EXPAND / QUOTED ECONOMICS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1EB6ADA-C71D-42BC-A374-07630E00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57575"/>
            <a:ext cx="4095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Road-route distances, buyer-specific logistics quotes and auditable price comparisons. These are not live today.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E4306CD-0457-4548-B9DD-5D0F630C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Current ranking uses state/district proximity, not road kilometres or cheapest price. No verified matching or environmental benefit is implied.</a:t>
            </a:r>
          </a:p>
        </p:txBody>
      </p:sp>
    </p:spTree>
    <p:extLst>
      <p:ext uri="{BB962C8B-B14F-4D97-AF65-F5344CB8AC3E}">
        <p14:creationId xmlns:p14="http://schemas.microsoft.com/office/powerpoint/2010/main" val="6794315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1C19676F-D704-4D72-B44E-9C6CCD8EF8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11aeafa44145b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FFA67DDB-9629-4D6B-A689-D738149F86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fc1c172e0d4c4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6E7E7FE2-E9BC-4C64-81F8-8DBE067B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05DE6393-F6B6-45F9-B747-4CF1FB05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B69A631-6123-4744-A215-384A4C2C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400175"/>
            <a:ext cx="857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FINAL PRODUCT LINK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4B85619-C0F1-4F9E-9137-F2C37DE4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762125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8f0f67ef9ac44722"/>
              </a:rPr>
              <a:t>https://wasterecast.web.app/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BB23271-25F7-477C-A025-ABA560AF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409825"/>
            <a:ext cx="857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267D791-2B35-4A9C-BE23-9D1003D4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77177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90188f02041d4fb4"/>
              </a:rPr>
              <a:t>https://github.com/anshuman542018/wasterecast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55A1357-EFB0-4732-9FE8-C02978E1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419475"/>
            <a:ext cx="857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DEMO VIDEO LINK / 3 MINUTES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2C21AC4-540E-4C76-B1B2-4ECF4F68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00475"/>
            <a:ext cx="8572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fd677ce2a0064717"/>
              </a:rPr>
              <a:t>https://drive.google.com/file/d/1e1EyM-4qKs6WXAbR9nq35Z9UsCGghN5u/view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6C1FC38-5B31-4F79-86E6-FDD2DA88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All links must be accessible without requesting access. Submit the PDF exported from this prescribed template.</a:t>
            </a:r>
          </a:p>
        </p:txBody>
      </p:sp>
    </p:spTree>
    <p:extLst>
      <p:ext uri="{BB962C8B-B14F-4D97-AF65-F5344CB8AC3E}">
        <p14:creationId xmlns:p14="http://schemas.microsoft.com/office/powerpoint/2010/main" val="65600181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AFA6E76F-E3C6-47DB-8E76-E9E4D4DC2E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0c7dc9df67431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3452DBC9-B5DE-43D0-8563-0896F15043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5d90099d8444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0A60310D-90BA-4EF0-AE9D-EC70B0A0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1618C53A-80EA-46C3-BD9F-19071CAE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9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Evidence, boundaries and evaluation readiness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FFE7222-A503-47CE-8B9F-73E7D16B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62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1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Real records. Explicit uncertainty. A human-confirmed next step.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EF9685F-7A7D-4814-8676-262485C7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2098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Source evidence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041B2A0-08ED-4D9A-91F0-DE16FF26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09800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MPCB Directory 2025; TNPCB solvent list; WBPCB inventory 2023–24. Source pages and retrieval dates stay attached.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D3869E7F-A4A2-4ACE-B0F5-5C10BE6F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7813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What a lead means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2C1E98BC-A128-4AF5-95A1-617B06C5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81300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facility worth checking. Listing status does not prove current authorization, demand, capacity or material acceptance.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3C0F8E19-878B-4B92-8746-2A321AB4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3528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What AI confidence means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99302EC-85F8-4F8D-A968-7BB0DF0B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352800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An extraction estimate from the model. It is not a measured accuracy score or approval to move waste.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6F969C0-D1BF-4934-A3E1-EDE6121F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924300"/>
            <a:ext cx="1952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</a:rPr>
              <a:t>Evaluation access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C4B8BD9-6CFB-443C-AF66-CDC3EACA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924300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Public prototype and repository. Participant confirmed public AI profiling; free-tier quota and provider availability still apply.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DEAA1287-B876-4BCF-8A11-756158EE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29150"/>
            <a:ext cx="857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Google free-tier processing/logging terms apply. Avoid confidential uploads. No completed transactions or certified compliance are claimed.</a:t>
            </a:r>
          </a:p>
        </p:txBody>
      </p:sp>
    </p:spTree>
    <p:extLst>
      <p:ext uri="{BB962C8B-B14F-4D97-AF65-F5344CB8AC3E}">
        <p14:creationId xmlns:p14="http://schemas.microsoft.com/office/powerpoint/2010/main" val="166318997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E8DBF7C1-53E5-4436-80A3-EED17390E4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16fd02d8eb4fe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D5687434-240B-46F8-BF97-7D214FF077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4ea6ffeb7433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97235611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2026-10-17T16:41:11.4440000Z</dcterms:created>
  <dcterms:modified xsi:type="dcterms:W3CDTF">2026-10-17T16:41:11.4440000Z</dcterms:modified>
</coreProperties>
</file>